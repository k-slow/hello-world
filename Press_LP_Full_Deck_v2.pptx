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84" r:id="rId47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5143500" cy="9144000"/>
  <p:embeddedFontLst>
    <p:embeddedFont>
      <p:font typeface="Libre Franklin"/>
      <p:regular r:id="rId35"/>
      <p:bold r:id="rId36"/>
      <p:italic r:id="rId37"/>
      <p:boldItalic r:id="rId38"/>
    </p:embeddedFont>
    <p:embeddedFont>
      <p:font typeface="DM Sans"/>
      <p:regular r:id="rId39"/>
      <p:bold r:id="rId40"/>
      <p:italic r:id="rId41"/>
      <p:boldItalic r:id="rId42"/>
    </p:embeddedFont>
    <p:embeddedFont>
      <p:font typeface="IBM Plex Mon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267">
          <p15:clr>
            <a:srgbClr val="747775"/>
          </p15:clr>
        </p15:guide>
        <p15:guide id="2" pos="97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D6174C4-8489-49B3-8E89-77AB7ED8F414}">
  <a:tblStyle styleId="{2D6174C4-8489-49B3-8E89-77AB7ED8F41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267" orient="horz"/>
        <p:guide pos="973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font" Target="fonts/LibreFranklin-regular.fntdata"/><Relationship Id="rId36" Type="http://schemas.openxmlformats.org/officeDocument/2006/relationships/font" Target="fonts/LibreFranklin-bold.fntdata"/><Relationship Id="rId37" Type="http://schemas.openxmlformats.org/officeDocument/2006/relationships/font" Target="fonts/LibreFranklin-italic.fntdata"/><Relationship Id="rId38" Type="http://schemas.openxmlformats.org/officeDocument/2006/relationships/font" Target="fonts/LibreFranklin-boldItalic.fntdata"/><Relationship Id="rId39" Type="http://schemas.openxmlformats.org/officeDocument/2006/relationships/font" Target="fonts/DMSans-regular.fntdata"/><Relationship Id="rId40" Type="http://schemas.openxmlformats.org/officeDocument/2006/relationships/font" Target="fonts/DMSans-bold.fntdata"/><Relationship Id="rId41" Type="http://schemas.openxmlformats.org/officeDocument/2006/relationships/font" Target="fonts/DMSans-italic.fntdata"/><Relationship Id="rId42" Type="http://schemas.openxmlformats.org/officeDocument/2006/relationships/font" Target="fonts/DMSans-boldItalic.fntdata"/><Relationship Id="rId43" Type="http://schemas.openxmlformats.org/officeDocument/2006/relationships/font" Target="fonts/IBMPlexMono-regular.fntdata"/><Relationship Id="rId44" Type="http://schemas.openxmlformats.org/officeDocument/2006/relationships/font" Target="fonts/IBMPlexMono-bold.fntdata"/><Relationship Id="rId45" Type="http://schemas.openxmlformats.org/officeDocument/2006/relationships/font" Target="fonts/IBMPlexMono-italic.fntdata"/><Relationship Id="rId46" Type="http://schemas.openxmlformats.org/officeDocument/2006/relationships/font" Target="fonts/IBMPlexMono-boldItalic.fntdata"/><Relationship Id="rId47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" name="Google Shape;34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9" name="Google Shape;38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3" name="Google Shape;40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6" name="Google Shape;54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2" name="Google Shape;56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0" name="Google Shape;58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3" name="Google Shape;64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4" name="Google Shape;64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6" name="Google Shape;68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7" name="Google Shape;687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02920" y="2011680"/>
            <a:ext cx="731520" cy="7315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02920" y="20116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2400"/>
              <a:buFont typeface="Libre Franklin"/>
              <a:buNone/>
            </a:pPr>
            <a:r>
              <a:rPr b="1" i="0" lang="en-US" sz="24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371600" y="2011680"/>
            <a:ext cx="36576" cy="7315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545325" y="2595800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CCBA"/>
              </a:buClr>
              <a:buSzPts val="1400"/>
              <a:buFont typeface="DM Sans"/>
              <a:buNone/>
            </a:pPr>
            <a:r>
              <a:rPr b="0" i="0" lang="en-US" sz="15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Durable Cash SaaS Fund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516967" y="190543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4400"/>
              <a:buFont typeface="Libre Franklin"/>
              <a:buNone/>
            </a:pPr>
            <a:r>
              <a:rPr b="1" i="0" lang="en-US" sz="50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PRESS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02920" y="200000"/>
            <a:ext cx="7000000" cy="55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Why Press. Why Now.</a:t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502920" y="920000"/>
            <a:ext cx="4060000" cy="1865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02920" y="920000"/>
            <a:ext cx="36000" cy="1865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682920" y="1020000"/>
            <a:ext cx="3780000" cy="16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Historic Entry Window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Software is selling at a discount and will continue to due to the various headwinds.</a:t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502920" y="2905000"/>
            <a:ext cx="4060000" cy="1865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02920" y="2905000"/>
            <a:ext cx="36000" cy="1865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82920" y="3005000"/>
            <a:ext cx="3780000" cy="16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Operational Playbook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Lean team, world-class talent plus AI equals 60%+ net margins.</a:t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4750000" y="920000"/>
            <a:ext cx="4060000" cy="1203333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750000" y="920000"/>
            <a:ext cx="36000" cy="1203333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930000" y="1020000"/>
            <a:ext cx="3780000" cy="1003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Proven Operation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$325M revenue. $236M profit. 12 quarters of data. Not projections.</a:t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750000" y="2243333"/>
            <a:ext cx="4060000" cy="1203333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750000" y="2243333"/>
            <a:ext cx="36000" cy="1203333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930000" y="2343333"/>
            <a:ext cx="3780000" cy="1003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Top-Decile Returns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25.9% net IRR, 3.50x DPI (Base case, 10-year). Bear 17%, Bull 35%. Unlevered.</a:t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750000" y="3566666"/>
            <a:ext cx="4060000" cy="1203333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750000" y="3566666"/>
            <a:ext cx="36000" cy="1203333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930000" y="3666666"/>
            <a:ext cx="3780000" cy="1003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Zero Risk Architecture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No leverage. No exit dependency. Quarterly distributions. Permanent equity.</a:t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02920" y="3200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Golden Age of Software Is Over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02920" y="9144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F8F6F2"/>
                </a:solidFill>
                <a:latin typeface="DM Sans"/>
                <a:ea typeface="DM Sans"/>
                <a:cs typeface="DM Sans"/>
                <a:sym typeface="DM Sans"/>
              </a:rPr>
              <a:t>SaaS valuations dropped 75% from their all-time peak.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02920" y="3700000"/>
            <a:ext cx="82000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The median PE fund bought software at 15-20x with 3-5x leverage during the golden age. Those structures no longer work. Debt instruments are maturing with no refinancing path. Thousands of companies are trapped -- too slow for a growth multiple, too bloated for a fortress multiple.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943600" y="914400"/>
            <a:ext cx="2743200" cy="8916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943600" y="914400"/>
            <a:ext cx="45720" cy="82296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126480" y="1024128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900"/>
              <a:buFont typeface="IBM Plex Mono"/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2021 PEAK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126480" y="120700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21x ARR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126480" y="1591056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Median SaaS EV/Revenue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943600" y="1920250"/>
            <a:ext cx="2743200" cy="8916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5943600" y="1920240"/>
            <a:ext cx="45720" cy="82296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126480" y="2029968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900"/>
              <a:buFont typeface="IBM Plex Mono"/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2026 HEALTHY SAAS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6126480" y="221284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5x ARR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126480" y="2596896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Stalled companies trade at 0.5-1.5x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943600" y="2926075"/>
            <a:ext cx="2743200" cy="8916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943600" y="2926080"/>
            <a:ext cx="45720" cy="82296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126480" y="3035808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900"/>
              <a:buFont typeface="IBM Plex Mono"/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FIRST TIME EVER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126480" y="321868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Discount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6126480" y="3602736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Software trades below S&amp;P 500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02920" y="465000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1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Sources: a16z, Meritech Capital, Bessemer, Goldman Sachs, Morgan Stanley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450000"/>
            <a:ext cx="5200000" cy="21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502920" y="54864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200"/>
              <a:buFont typeface="Libre Franklin"/>
              <a:buNone/>
            </a:pPr>
            <a:r>
              <a:rPr b="1" i="0" lang="en-US" sz="22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"Only two paths to durable value:</a:t>
            </a:r>
            <a:br>
              <a:rPr b="1" i="0" lang="en-US" sz="22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b="1" i="0" lang="en-US" sz="2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accelerate growth to greater than 25%,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2200"/>
              <a:buFont typeface="Libre Franklin"/>
              <a:buNone/>
            </a:pPr>
            <a:r>
              <a:rPr b="1" i="0" lang="en-US" sz="2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or rebuild to 40%+ true margins.</a:t>
            </a:r>
            <a:r>
              <a:rPr b="1" i="0" lang="en-US" sz="22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"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02920" y="192024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1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-- David George, a16z, March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502920" y="2377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"You're either Gucci or Walmart. </a:t>
            </a:r>
            <a:r>
              <a:rPr b="1" i="0" lang="en-US" sz="18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middle is dead.</a:t>
            </a:r>
            <a:r>
              <a:rPr b="1" i="0" lang="en-US" sz="1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502920" y="292608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1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-- Marc Andreessen a16z, February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502920" y="3200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a16z Barbell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502920" y="82296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7A7570"/>
                </a:solidFill>
                <a:latin typeface="IBM Plex Mono"/>
                <a:ea typeface="IBM Plex Mono"/>
                <a:cs typeface="IBM Plex Mono"/>
                <a:sym typeface="IBM Plex Mono"/>
              </a:rPr>
              <a:t>~30,000 SAAS COMPANIES WORLDWIDE  |  ~17,000 B2B  |  ~11,000 AT $10M+ ARR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502920" y="1143000"/>
            <a:ext cx="2194560" cy="210312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02920" y="1143000"/>
            <a:ext cx="45720" cy="21031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685800" y="12344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900"/>
              <a:buFont typeface="IBM Plex Mono"/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HIGH GROWTH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685800" y="14630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400"/>
              <a:buFont typeface="Libre Franklin"/>
              <a:buNone/>
            </a:pPr>
            <a:r>
              <a:rPr b="1" i="0" lang="en-US" sz="24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&gt;25%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685800" y="1920240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~800 companies growing &gt;25% YoY. These survive on innovation and speed.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2880360" y="1143000"/>
            <a:ext cx="3383280" cy="21031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3063240" y="1234440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900"/>
              <a:buFont typeface="IBM Plex Mono"/>
              <a:buNone/>
            </a:pPr>
            <a:r>
              <a:rPr b="1" i="0" lang="en-US" sz="900" u="none" cap="none" strike="noStrike">
                <a:solidFill>
                  <a:srgbClr val="0A0D14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MIDDLE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3063240" y="146304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3200"/>
              <a:buFont typeface="Libre Franklin"/>
              <a:buNone/>
            </a:pPr>
            <a:r>
              <a:rPr b="1" i="0" lang="en-US" sz="32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~9,500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3063290" y="1906585"/>
            <a:ext cx="3017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0A0D14"/>
                </a:solidFill>
                <a:latin typeface="DM Sans"/>
                <a:ea typeface="DM Sans"/>
                <a:cs typeface="DM Sans"/>
                <a:sym typeface="DM Sans"/>
              </a:rPr>
              <a:t>7,000 stuck in the death zone. 1,500 already stalled. Neither growing fast enough nor profitable enough to survive the repricing.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446520" y="1143000"/>
            <a:ext cx="2194560" cy="210312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6446520" y="1143000"/>
            <a:ext cx="45720" cy="21031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6629400" y="12344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900"/>
              <a:buFont typeface="IBM Plex Mono"/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HIGH MARGIN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629400" y="14630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400"/>
              <a:buFont typeface="Libre Franklin"/>
              <a:buNone/>
            </a:pPr>
            <a:r>
              <a:rPr b="1" i="0" lang="en-US" sz="24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&gt;40%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629400" y="192024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~500 companies at 40%+ true operating margin. The Broadcom / VMware model.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502920" y="3520440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Press buys from the middle. Companies that can't grow their way out and haven't restructured. We acquire at 1.25x ARR, deploy the playbook, and convert them from cash-burning liabilities into durable cash assets.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502920" y="411480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1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Sources: a16z, Crunchbase, Carta, Pitchbook. B2B SaaS subset of ~30,000 global SaaS companies.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502920" y="5486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900"/>
              <a:buFont typeface="IBM Plex Mono"/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THESIS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502920" y="13500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400"/>
              <a:buFont typeface="Libre Franklin"/>
              <a:buNone/>
            </a:pPr>
            <a:r>
              <a:rPr b="1" i="0" lang="en-US" sz="24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We buy B2B SaaS companies.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400"/>
              <a:buFont typeface="Libre Franklin"/>
              <a:buNone/>
            </a:pPr>
            <a:r>
              <a:rPr b="1" i="0" lang="en-US" sz="24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We re-architect them with a lean, AI-native team focused on retention and profitability.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400"/>
              <a:buFont typeface="Libre Franklin"/>
              <a:buNone/>
            </a:pPr>
            <a:r>
              <a:rPr b="1" i="0" lang="en-US" sz="24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We distribute the cash quarterly to investors starting year one.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502925" y="3300000"/>
            <a:ext cx="77724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 xml:space="preserve">A durable cash fund. Buy, fix, hold. </a:t>
            </a:r>
            <a:br>
              <a:rPr b="0" i="0" lang="en-US" sz="12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</a:br>
            <a:br>
              <a:rPr b="0" i="0" lang="en-US" sz="12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0" i="0" lang="en-US" sz="12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 xml:space="preserve"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B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0" y="32004"/>
            <a:ext cx="9144000" cy="600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502920" y="100000"/>
            <a:ext cx="70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Leadership Team</a:t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502920" y="450000"/>
            <a:ext cx="7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A spinout from Trilogy. Not a team being assembled.</a:t>
            </a: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8382000" y="16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502920" y="830000"/>
            <a:ext cx="2590000" cy="520000"/>
          </a:xfrm>
          <a:prstGeom prst="rect">
            <a:avLst/>
          </a:prstGeom>
          <a:solidFill>
            <a:srgbClr val="EDEA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502920" y="830000"/>
            <a:ext cx="36000" cy="52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662920" y="880000"/>
            <a:ext cx="237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CEO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Kathy Slowinski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CEO, Press Capital</a:t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3276920" y="830000"/>
            <a:ext cx="2590000" cy="520000"/>
          </a:xfrm>
          <a:prstGeom prst="rect">
            <a:avLst/>
          </a:prstGeom>
          <a:solidFill>
            <a:srgbClr val="EDEA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3276920" y="830000"/>
            <a:ext cx="36000" cy="52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3436920" y="880000"/>
            <a:ext cx="237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CFO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Two-time CEO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Fund ops + B2B SaaS background</a:t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6050920" y="830000"/>
            <a:ext cx="2590000" cy="520000"/>
          </a:xfrm>
          <a:prstGeom prst="rect">
            <a:avLst/>
          </a:prstGeom>
          <a:solidFill>
            <a:srgbClr val="EDEA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6050920" y="830000"/>
            <a:ext cx="36000" cy="52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6210920" y="880000"/>
            <a:ext cx="237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CIO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Two-time CEO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IR, fundraising + B2B SaaS background</a:t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502920" y="1500000"/>
            <a:ext cx="2590000" cy="520000"/>
          </a:xfrm>
          <a:prstGeom prst="rect">
            <a:avLst/>
          </a:prstGeom>
          <a:solidFill>
            <a:srgbClr val="EDEA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502920" y="1500000"/>
            <a:ext cx="36000" cy="52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662920" y="1550000"/>
            <a:ext cx="237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CPO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Trilogy spinout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3+ years with Kathy</a:t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3276920" y="1500000"/>
            <a:ext cx="2590000" cy="520000"/>
          </a:xfrm>
          <a:prstGeom prst="rect">
            <a:avLst/>
          </a:prstGeom>
          <a:solidFill>
            <a:srgbClr val="EDEA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3276920" y="1500000"/>
            <a:ext cx="36000" cy="52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3436920" y="1550000"/>
            <a:ext cx="237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Trilogy spinout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3+ years with Kathy</a:t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6050920" y="1500000"/>
            <a:ext cx="2590000" cy="520000"/>
          </a:xfrm>
          <a:prstGeom prst="rect">
            <a:avLst/>
          </a:prstGeom>
          <a:solidFill>
            <a:srgbClr val="EDEA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6050920" y="1500000"/>
            <a:ext cx="36000" cy="52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6210920" y="1550000"/>
            <a:ext cx="237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COO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Trilogy spinout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3+ years with Kathy</a:t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502920" y="2250000"/>
            <a:ext cx="8138160" cy="48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502920" y="2250000"/>
            <a:ext cx="36000" cy="48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700000" y="2290000"/>
            <a:ext cx="78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THE OPERATOR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Most successful CEO in Trilogy history for creating profit. 15 acquisitions integrated. $5M+ revenue per employee. 3 years of auditable P&amp;L.</a:t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502920" y="2850000"/>
            <a:ext cx="8138160" cy="48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502920" y="2850000"/>
            <a:ext cx="36000" cy="48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700000" y="2890000"/>
            <a:ext cx="78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THE AI EDGE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Built the AI playbook that gained 15 points of margin (60% to 75%). 2 board seats including an $800M company. The playbook gets better every quarter.</a:t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502920" y="3450000"/>
            <a:ext cx="8138160" cy="48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502920" y="3450000"/>
            <a:ext cx="36000" cy="48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700000" y="3490000"/>
            <a:ext cx="78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THE SPINOUT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Not a team being assembled. CPO, CTO, COO are 3+ year operators from Trilogy. CFO and CIO bring two-time CEO experience with fundraising and B2B SaaS depth.</a:t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502920" y="180000"/>
            <a:ext cx="70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Operating Playbook</a:t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502920" y="850000"/>
            <a:ext cx="4100000" cy="75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502920" y="850000"/>
            <a:ext cx="36000" cy="75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672920" y="920000"/>
            <a:ext cx="3850000" cy="6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CUSTOMER SUPPORT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Before: 12-person team, $1.2M/yr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After: AI handles 80% of tickets. 2 humans. $200K/yr.</a:t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4742920" y="850000"/>
            <a:ext cx="4100000" cy="75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4742920" y="850000"/>
            <a:ext cx="36000" cy="75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4912920" y="920000"/>
            <a:ext cx="3850000" cy="6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FINANCE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Before: 4-person team, manual reporting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After: AI dashboards + forecasting. CFO on strategy only.</a:t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502920" y="1700000"/>
            <a:ext cx="4100000" cy="75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502920" y="1700000"/>
            <a:ext cx="36000" cy="75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672920" y="1770000"/>
            <a:ext cx="3850000" cy="6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LEGAL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Before: Outside counsel, $50K/month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After: AI reviews contracts + flags risk. Counsel for closings only.</a:t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4742920" y="1700000"/>
            <a:ext cx="4100000" cy="75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4742920" y="1700000"/>
            <a:ext cx="36000" cy="75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4912920" y="1770000"/>
            <a:ext cx="3850000" cy="6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PRODUCT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Before: Separate PM, AM, CS per account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After: PM is the AM and CS. Zero handoffs. Organization narrows. Customers are happier.</a:t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502920" y="2550000"/>
            <a:ext cx="4100000" cy="75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502920" y="2550000"/>
            <a:ext cx="36000" cy="75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672920" y="2620000"/>
            <a:ext cx="3850000" cy="6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ENGINEERING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Before: 30 engineers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After: 5 engineers with 10 agents each. AI helps a world-class team move faster than a 50-person team.</a:t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4742920" y="2550000"/>
            <a:ext cx="4100000" cy="75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4742920" y="2550000"/>
            <a:ext cx="36000" cy="75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4912920" y="2620000"/>
            <a:ext cx="3850000" cy="6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MARKETING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Before: Agency + 3 FTEs, $800K/yr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After: AI content + campaigns + analytics. 1 FTE.</a:t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502920" y="3500000"/>
            <a:ext cx="82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This is the operating playbook that gets you to 60%+ net profit margins.</a:t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502920" y="150000"/>
            <a:ext cx="70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Proof Point</a:t>
            </a: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8382000" y="18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502920" y="780000"/>
            <a:ext cx="2590000" cy="62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502920" y="780000"/>
            <a:ext cx="36000" cy="62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662920" y="840000"/>
            <a:ext cx="237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3-YEAR REVENUE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$325M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12 quarters of data</a:t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3276920" y="780000"/>
            <a:ext cx="2590000" cy="62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3276920" y="780000"/>
            <a:ext cx="36000" cy="62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3436920" y="840000"/>
            <a:ext cx="237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3-YEAR NET PROFIT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$236M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73% avg net margin</a:t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6050920" y="780000"/>
            <a:ext cx="2590000" cy="62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6050920" y="780000"/>
            <a:ext cx="36000" cy="62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6210920" y="840000"/>
            <a:ext cx="237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$5M rev per person</a:t>
            </a:r>
            <a:endParaRPr/>
          </a:p>
        </p:txBody>
      </p:sp>
      <p:sp>
        <p:nvSpPr>
          <p:cNvPr id="220" name="Google Shape;220;p11"/>
          <p:cNvSpPr/>
          <p:nvPr/>
        </p:nvSpPr>
        <p:spPr>
          <a:xfrm>
            <a:off x="502920" y="1800000"/>
            <a:ext cx="1500000" cy="340000"/>
          </a:xfrm>
          <a:prstGeom prst="rect">
            <a:avLst/>
          </a:prstGeom>
          <a:solidFill>
            <a:srgbClr val="13172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2002920" y="1800000"/>
            <a:ext cx="1700000" cy="340000"/>
          </a:xfrm>
          <a:prstGeom prst="rect">
            <a:avLst/>
          </a:prstGeom>
          <a:solidFill>
            <a:srgbClr val="BE8A4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FY23 (Q2-Q4)</a:t>
            </a: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3702920" y="1800000"/>
            <a:ext cx="1700000" cy="340000"/>
          </a:xfrm>
          <a:prstGeom prst="rect">
            <a:avLst/>
          </a:prstGeom>
          <a:solidFill>
            <a:srgbClr val="BE8A4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FY24</a:t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5402920" y="1800000"/>
            <a:ext cx="1700000" cy="340000"/>
          </a:xfrm>
          <a:prstGeom prst="rect">
            <a:avLst/>
          </a:prstGeom>
          <a:solidFill>
            <a:srgbClr val="BE8A4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FY25</a:t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7102920" y="1800000"/>
            <a:ext cx="1700000" cy="340000"/>
          </a:xfrm>
          <a:prstGeom prst="rect">
            <a:avLst/>
          </a:prstGeom>
          <a:solidFill>
            <a:srgbClr val="BE8A4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Q1 FY26</a:t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502920" y="2140000"/>
            <a:ext cx="1500000" cy="300000"/>
          </a:xfrm>
          <a:prstGeom prst="rect">
            <a:avLst/>
          </a:prstGeom>
          <a:solidFill>
            <a:srgbClr val="1D2233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Revenue</a:t>
            </a: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2002920" y="2140000"/>
            <a:ext cx="1700000" cy="300000"/>
          </a:xfrm>
          <a:prstGeom prst="rect">
            <a:avLst/>
          </a:prstGeom>
          <a:solidFill>
            <a:srgbClr val="13172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$75M</a:t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3702920" y="2140000"/>
            <a:ext cx="1700000" cy="300000"/>
          </a:xfrm>
          <a:prstGeom prst="rect">
            <a:avLst/>
          </a:prstGeom>
          <a:solidFill>
            <a:srgbClr val="13172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$115M</a:t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5402920" y="2140000"/>
            <a:ext cx="1700000" cy="300000"/>
          </a:xfrm>
          <a:prstGeom prst="rect">
            <a:avLst/>
          </a:prstGeom>
          <a:solidFill>
            <a:srgbClr val="13172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$110M</a:t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7102920" y="2140000"/>
            <a:ext cx="1700000" cy="300000"/>
          </a:xfrm>
          <a:prstGeom prst="rect">
            <a:avLst/>
          </a:prstGeom>
          <a:solidFill>
            <a:srgbClr val="13172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$25M</a:t>
            </a: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502920" y="2440000"/>
            <a:ext cx="1500000" cy="300000"/>
          </a:xfrm>
          <a:prstGeom prst="rect">
            <a:avLst/>
          </a:prstGeom>
          <a:solidFill>
            <a:srgbClr val="1D2233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Net Profit</a:t>
            </a: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2002920" y="2440000"/>
            <a:ext cx="1700000" cy="300000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$57M</a:t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3702920" y="2440000"/>
            <a:ext cx="1700000" cy="300000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$80M</a:t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5402920" y="2440000"/>
            <a:ext cx="1700000" cy="300000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$80M</a:t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7102920" y="2440000"/>
            <a:ext cx="1700000" cy="300000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$19M</a:t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502920" y="2740000"/>
            <a:ext cx="1500000" cy="300000"/>
          </a:xfrm>
          <a:prstGeom prst="rect">
            <a:avLst/>
          </a:prstGeom>
          <a:solidFill>
            <a:srgbClr val="1D2233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Net Margin</a:t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2002920" y="2740000"/>
            <a:ext cx="1700000" cy="300000"/>
          </a:xfrm>
          <a:prstGeom prst="rect">
            <a:avLst/>
          </a:prstGeom>
          <a:solidFill>
            <a:srgbClr val="13172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76%</a:t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3702920" y="2740000"/>
            <a:ext cx="1700000" cy="300000"/>
          </a:xfrm>
          <a:prstGeom prst="rect">
            <a:avLst/>
          </a:prstGeom>
          <a:solidFill>
            <a:srgbClr val="13172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70%</a:t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5402920" y="2740000"/>
            <a:ext cx="1700000" cy="300000"/>
          </a:xfrm>
          <a:prstGeom prst="rect">
            <a:avLst/>
          </a:prstGeom>
          <a:solidFill>
            <a:srgbClr val="13172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72.5%</a:t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7102920" y="2740000"/>
            <a:ext cx="1700000" cy="300000"/>
          </a:xfrm>
          <a:prstGeom prst="rect">
            <a:avLst/>
          </a:prstGeom>
          <a:solidFill>
            <a:srgbClr val="13172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75%</a:t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502920" y="3240000"/>
            <a:ext cx="82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Revenue shrank. Profit grew. Margins expanded. Same team.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This is not a projection. It is a real, running operation producing durable cash. *Several acquisitions took place in FY24.</a:t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2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502920" y="1828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Fund I at a Glance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502920" y="960120"/>
            <a:ext cx="1965960" cy="91440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502920" y="96012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685800" y="105156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FUND SIZE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685800" y="12344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$150M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2651760" y="960120"/>
            <a:ext cx="1965960" cy="91440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2651760" y="96012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2834640" y="105156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NET IRR (10Y)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2834640" y="12344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25.9%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4800600" y="960120"/>
            <a:ext cx="1965960" cy="91440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4800600" y="96012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4983480" y="105156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NET DPI (10Y)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4983480" y="12344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3.50x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6949440" y="960120"/>
            <a:ext cx="1965960" cy="91440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6949440" y="96012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7132320" y="105156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CASH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7132320" y="12344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Durable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502920" y="2194560"/>
            <a:ext cx="1965960" cy="91440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502920" y="219456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685800" y="228600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PAYBACK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685800" y="246888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Year 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2651760" y="2194560"/>
            <a:ext cx="1965960" cy="91440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2651760" y="219456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2834640" y="228600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PEAK COC YIELD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2834640" y="246888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4.53x (15Y)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4800600" y="2194560"/>
            <a:ext cx="1965960" cy="91440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4800600" y="219456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4983480" y="228600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LEVERAGE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4983480" y="246888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Zero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6949440" y="2194560"/>
            <a:ext cx="1965960" cy="91440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6949440" y="219456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7132320" y="228600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NDR RANGE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7132320" y="246888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80 / 90 / 100%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502920" y="338328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300"/>
              <a:buFont typeface="Libre Franklin"/>
              <a:buNone/>
            </a:pPr>
            <a:r>
              <a:rPr b="1" i="0" lang="en-US" sz="13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Every dollar of return is real cash in your account. Every quarter.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3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502920" y="3200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Fund I Returns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1" name="Google Shape;301;p13"/>
          <p:cNvGraphicFramePr/>
          <p:nvPr/>
        </p:nvGraphicFramePr>
        <p:xfrm>
          <a:off x="5029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{2D6174C4-8489-49B3-8E89-77AB7ED8F414}</a:tableStyleId>
              </a:tblPr>
              <a:tblGrid>
                <a:gridCol w="1463050"/>
                <a:gridCol w="1280150"/>
                <a:gridCol w="1371600"/>
                <a:gridCol w="1280150"/>
                <a:gridCol w="1371600"/>
                <a:gridCol w="128015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80% NDR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85% NDR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90% NDR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95% NDR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100% NDR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A0D1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CCBA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D8CCB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Net IRR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6F2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F8F6F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16.6%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21.4%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25.9%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30.3%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6F2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F8F6F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34.7%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CCBA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D8CCB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Net DPI (10Y)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6F2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F8F6F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2.19x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2.79x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3.50x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4.37x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6F2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F8F6F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5.43x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CCBA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D8CCB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Net DPI (15Y)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6F2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F8F6F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2.44x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3.47x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4.53x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5.87x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6F2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F8F6F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7.55x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CCBA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D8CCB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Payback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6F2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F8F6F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Year 4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Year 4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Year 4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Year 4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6F2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F8F6F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Year 3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CCBA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D8CCB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LP Cash (15Y)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6F2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F8F6F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$366M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$520M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$679M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$880M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6F2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F8F6F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$1132M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</a:tr>
            </a:tbl>
          </a:graphicData>
        </a:graphic>
      </p:graphicFrame>
      <p:sp>
        <p:nvSpPr>
          <p:cNvPr id="302" name="Google Shape;302;p13"/>
          <p:cNvSpPr/>
          <p:nvPr/>
        </p:nvSpPr>
        <p:spPr>
          <a:xfrm>
            <a:off x="502920" y="329184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1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Base case = 50% recycle, 90% NDR (price-led, Yr1-6), reverting to 85% gross-retention decay from Yr7.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001000" y="219456"/>
            <a:ext cx="402336" cy="402336"/>
          </a:xfrm>
          <a:prstGeom prst="rect">
            <a:avLst/>
          </a:prstGeom>
          <a:solidFill>
            <a:srgbClr val="BE8A4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001000" y="219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18288"/>
          </a:xfrm>
          <a:prstGeom prst="rect">
            <a:avLst/>
          </a:prstGeom>
          <a:solidFill>
            <a:srgbClr val="BE8A4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4919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8CC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CONFIDENTIAL -- DO NOT DISTRIBUTE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Fund I Returns: Recycling Scenarios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291840" y="822960"/>
            <a:ext cx="1828800" cy="365760"/>
          </a:xfrm>
          <a:prstGeom prst="rect">
            <a:avLst/>
          </a:prstGeom>
          <a:solidFill>
            <a:srgbClr val="131722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91840" y="822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Recycle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12080" y="822960"/>
            <a:ext cx="1828800" cy="365760"/>
          </a:xfrm>
          <a:prstGeom prst="rect">
            <a:avLst/>
          </a:prstGeom>
          <a:solidFill>
            <a:srgbClr val="13172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212080" y="822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Recycle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32320" y="822960"/>
            <a:ext cx="1828800" cy="365760"/>
          </a:xfrm>
          <a:prstGeom prst="rect">
            <a:avLst/>
          </a:prstGeom>
          <a:solidFill>
            <a:srgbClr val="BE8A4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132320" y="822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D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100% Recycle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1280160"/>
            <a:ext cx="269748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02920" y="12801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8CC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 IRR (10Y)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1280160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291840" y="1280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23.2%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12080" y="1280160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212080" y="1280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25.9%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32320" y="1280160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132320" y="1280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26.3%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1627632"/>
            <a:ext cx="269748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02920" y="1627632"/>
            <a:ext cx="269748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8CC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 DPI (10Y)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1627632"/>
            <a:ext cx="182880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291840" y="1627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2.57x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212080" y="1627632"/>
            <a:ext cx="182880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212080" y="1627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3.50x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132320" y="1627632"/>
            <a:ext cx="182880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132320" y="1627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3.91x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1975104"/>
            <a:ext cx="269748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02920" y="1975104"/>
            <a:ext cx="269748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8CC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 DPI (15Y)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91840" y="1975104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291840" y="19751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3.04x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212080" y="1975104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212080" y="19751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4.53x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132320" y="1975104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132320" y="19751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5.10x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" y="2322576"/>
            <a:ext cx="269748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02920" y="2322576"/>
            <a:ext cx="269748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8CC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Payback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91840" y="2322576"/>
            <a:ext cx="182880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291840" y="23225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43 months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212080" y="2322576"/>
            <a:ext cx="182880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212080" y="23225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47 months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132320" y="2322576"/>
            <a:ext cx="182880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7132320" y="23225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52 months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02920" y="2670048"/>
            <a:ext cx="269748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02920" y="2670048"/>
            <a:ext cx="269748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8CC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LP Cash (10Y)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291840" y="2670048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3291840" y="2670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$385M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212080" y="2670048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5212080" y="2670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$525M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132320" y="2670048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7132320" y="2670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$586M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02920" y="3017520"/>
            <a:ext cx="269748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502920" y="30175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8CC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LP Cash (15Y)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291840" y="3017520"/>
            <a:ext cx="182880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3291840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$457M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212080" y="3017520"/>
            <a:ext cx="182880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5212080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$679M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132320" y="3017520"/>
            <a:ext cx="182880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7132320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$765M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02920" y="3364992"/>
            <a:ext cx="269748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502920" y="3364992"/>
            <a:ext cx="269748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8CC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Deals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291840" y="3364992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3291840" y="33649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5212080" y="3364992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5212080" y="33649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7132320" y="3364992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7132320" y="33649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02920" y="3886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Recycle: 50% of operating cash retained during first ~2 years post-deployment and redeployed - funded from cash flow, no incremental capital calls. Base = 90% NDR.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001000" y="219456"/>
            <a:ext cx="402336" cy="402336"/>
          </a:xfrm>
          <a:prstGeom prst="rect">
            <a:avLst/>
          </a:prstGeom>
          <a:solidFill>
            <a:srgbClr val="BE8A4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001000" y="219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18288"/>
          </a:xfrm>
          <a:prstGeom prst="rect">
            <a:avLst/>
          </a:prstGeom>
          <a:solidFill>
            <a:srgbClr val="BE8A4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4919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8CC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CONFIDENTIAL -- DO NOT DISTRIBUTE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" y="182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Recycling + NDR Sensitivity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10-year returns; 90% NDR base case. 50% recycle. Tiered waterfall. Staged IRR.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868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10-YEAR DPI (LP MOIC)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91640" y="1115568"/>
            <a:ext cx="2377440" cy="274320"/>
          </a:xfrm>
          <a:prstGeom prst="rect">
            <a:avLst/>
          </a:prstGeom>
          <a:solidFill>
            <a:srgbClr val="13172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691640" y="1115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Recycle (5)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60520" y="1115568"/>
            <a:ext cx="2377440" cy="274320"/>
          </a:xfrm>
          <a:prstGeom prst="rect">
            <a:avLst/>
          </a:prstGeom>
          <a:solidFill>
            <a:srgbClr val="13172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160520" y="1115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Recycle (8)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629400" y="1115568"/>
            <a:ext cx="2377440" cy="274320"/>
          </a:xfrm>
          <a:prstGeom prst="rect">
            <a:avLst/>
          </a:prstGeom>
          <a:solidFill>
            <a:srgbClr val="131722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29400" y="1115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100% Recycle (9)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1115568"/>
            <a:ext cx="1097280" cy="274320"/>
          </a:xfrm>
          <a:prstGeom prst="rect">
            <a:avLst/>
          </a:prstGeom>
          <a:solidFill>
            <a:srgbClr val="13172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02920" y="1115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NDR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1389888"/>
            <a:ext cx="109728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02920" y="1389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80%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691640" y="138988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691640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1.63x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60520" y="138988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160520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2.19x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29400" y="138988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629400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2.35x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1664208"/>
            <a:ext cx="1097280" cy="274320"/>
          </a:xfrm>
          <a:prstGeom prst="rect">
            <a:avLst/>
          </a:prstGeom>
          <a:solidFill>
            <a:srgbClr val="1A1D28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02920" y="16642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85%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691640" y="1664208"/>
            <a:ext cx="2377440" cy="274320"/>
          </a:xfrm>
          <a:prstGeom prst="rect">
            <a:avLst/>
          </a:prstGeom>
          <a:solidFill>
            <a:srgbClr val="1A1D28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691640" y="1664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2.07x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60520" y="1664208"/>
            <a:ext cx="2377440" cy="274320"/>
          </a:xfrm>
          <a:prstGeom prst="rect">
            <a:avLst/>
          </a:prstGeom>
          <a:solidFill>
            <a:srgbClr val="1A1D28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160520" y="1664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2.79x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629400" y="1664208"/>
            <a:ext cx="2377440" cy="274320"/>
          </a:xfrm>
          <a:prstGeom prst="rect">
            <a:avLst/>
          </a:prstGeom>
          <a:solidFill>
            <a:srgbClr val="1A1D28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629400" y="1664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3.07x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691640" y="193852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691640" y="1938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2.57x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160520" y="193852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160520" y="1938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3.50x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629400" y="193852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629400" y="1938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3.91x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02920" y="2212848"/>
            <a:ext cx="1097280" cy="274320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02920" y="2212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95%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691640" y="2212848"/>
            <a:ext cx="2377440" cy="274320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1691640" y="2212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3.19x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160520" y="2212848"/>
            <a:ext cx="2377440" cy="274320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160520" y="2212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4.37x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629400" y="2212848"/>
            <a:ext cx="2377440" cy="274320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629400" y="2212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4.93x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02920" y="2487168"/>
            <a:ext cx="109728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502920" y="2487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691640" y="248716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1691640" y="2487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3.94x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160520" y="248716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4160520" y="2487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5.43x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629400" y="248716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6629400" y="2487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6.17x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02920" y="2788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10-YEAR STAGED IRR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691640" y="3035808"/>
            <a:ext cx="2377440" cy="274320"/>
          </a:xfrm>
          <a:prstGeom prst="rect">
            <a:avLst/>
          </a:prstGeom>
          <a:solidFill>
            <a:srgbClr val="131722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1691640" y="3035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Recycle (5)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160520" y="3035808"/>
            <a:ext cx="2377440" cy="274320"/>
          </a:xfrm>
          <a:prstGeom prst="rect">
            <a:avLst/>
          </a:prstGeom>
          <a:solidFill>
            <a:srgbClr val="131722"/>
          </a:solidFill>
          <a:ln/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4160520" y="3035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Recycle (8)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629400" y="3035808"/>
            <a:ext cx="2377440" cy="274320"/>
          </a:xfrm>
          <a:prstGeom prst="rect">
            <a:avLst/>
          </a:prstGeom>
          <a:solidFill>
            <a:srgbClr val="131722"/>
          </a:solidFill>
          <a:ln/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6629400" y="3035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100% Recycle (9)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02920" y="3035808"/>
            <a:ext cx="1097280" cy="274320"/>
          </a:xfrm>
          <a:prstGeom prst="rect">
            <a:avLst/>
          </a:prstGeom>
          <a:solidFill>
            <a:srgbClr val="131722"/>
          </a:solidFill>
          <a:ln/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502920" y="3035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NDR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02920" y="3310128"/>
            <a:ext cx="109728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502920" y="33101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80%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1691640" y="331012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1691640" y="3310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12.7%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160520" y="331012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4160520" y="3310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16.6%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629400" y="331012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6629400" y="3310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16.4%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502920" y="3584448"/>
            <a:ext cx="1097280" cy="274320"/>
          </a:xfrm>
          <a:prstGeom prst="rect">
            <a:avLst/>
          </a:prstGeom>
          <a:solidFill>
            <a:srgbClr val="1A1D28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502920" y="3584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85%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1691640" y="3584448"/>
            <a:ext cx="2377440" cy="274320"/>
          </a:xfrm>
          <a:prstGeom prst="rect">
            <a:avLst/>
          </a:prstGeom>
          <a:solidFill>
            <a:srgbClr val="1A1D28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1691640" y="3584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18.2%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4160520" y="3584448"/>
            <a:ext cx="2377440" cy="274320"/>
          </a:xfrm>
          <a:prstGeom prst="rect">
            <a:avLst/>
          </a:prstGeom>
          <a:solidFill>
            <a:srgbClr val="1A1D28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4160520" y="3584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21.4%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6629400" y="3584448"/>
            <a:ext cx="2377440" cy="274320"/>
          </a:xfrm>
          <a:prstGeom prst="rect">
            <a:avLst/>
          </a:prstGeom>
          <a:solidFill>
            <a:srgbClr val="1A1D28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6629400" y="3584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21.5%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502920" y="3858768"/>
            <a:ext cx="109728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502920" y="3858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90%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1691640" y="385876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1691640" y="3858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23.2%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4160520" y="385876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88" name="Text 86"/>
          <p:cNvSpPr/>
          <p:nvPr/>
        </p:nvSpPr>
        <p:spPr>
          <a:xfrm>
            <a:off x="4160520" y="3858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25.9%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6629400" y="385876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6629400" y="3858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26.3%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502920" y="4133088"/>
            <a:ext cx="1097280" cy="274320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92" name="Text 90"/>
          <p:cNvSpPr/>
          <p:nvPr/>
        </p:nvSpPr>
        <p:spPr>
          <a:xfrm>
            <a:off x="502920" y="4133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95%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1691640" y="4133088"/>
            <a:ext cx="2377440" cy="274320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1691640" y="4133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28.1%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4160520" y="4133088"/>
            <a:ext cx="2377440" cy="274320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4160520" y="4133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30.3%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6629400" y="4133088"/>
            <a:ext cx="2377440" cy="274320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98" name="Text 96"/>
          <p:cNvSpPr/>
          <p:nvPr/>
        </p:nvSpPr>
        <p:spPr>
          <a:xfrm>
            <a:off x="6629400" y="4133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30.9%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502920" y="4407408"/>
            <a:ext cx="109728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100" name="Text 98"/>
          <p:cNvSpPr/>
          <p:nvPr/>
        </p:nvSpPr>
        <p:spPr>
          <a:xfrm>
            <a:off x="502920" y="44074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1691640" y="440740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102" name="Text 100"/>
          <p:cNvSpPr/>
          <p:nvPr/>
        </p:nvSpPr>
        <p:spPr>
          <a:xfrm>
            <a:off x="1691640" y="4407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32.8%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4160520" y="440740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104" name="Text 102"/>
          <p:cNvSpPr/>
          <p:nvPr/>
        </p:nvSpPr>
        <p:spPr>
          <a:xfrm>
            <a:off x="4160520" y="4407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34.7%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6629400" y="440740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106" name="Text 104"/>
          <p:cNvSpPr/>
          <p:nvPr/>
        </p:nvSpPr>
        <p:spPr>
          <a:xfrm>
            <a:off x="6629400" y="4407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35.4%</a:t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502920" y="46817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 case: 90% NDR highlighted. Price-led NDR (Yr1-6) reverting to 85% decay. Higher recycling = more deals, higher DPI.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5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400000" y="180000"/>
            <a:ext cx="70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Press vs The Industry</a:t>
            </a:r>
            <a:endParaRPr/>
          </a:p>
        </p:txBody>
      </p:sp>
      <p:sp>
        <p:nvSpPr>
          <p:cNvPr id="344" name="Google Shape;344;p15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345" name="Google Shape;345;p15"/>
          <p:cNvSpPr/>
          <p:nvPr/>
        </p:nvSpPr>
        <p:spPr>
          <a:xfrm>
            <a:off x="400000" y="850000"/>
            <a:ext cx="1600000" cy="400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txBody>
          <a:bodyPr anchorCtr="0" anchor="ctr" bIns="30000" lIns="60000" spcFirstLastPara="1" rIns="60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2060000" y="850000"/>
            <a:ext cx="1700000" cy="400000"/>
          </a:xfrm>
          <a:prstGeom prst="rect">
            <a:avLst/>
          </a:prstGeom>
          <a:solidFill>
            <a:srgbClr val="1D2233"/>
          </a:solidFill>
          <a:ln>
            <a:noFill/>
          </a:ln>
        </p:spPr>
        <p:txBody>
          <a:bodyPr anchorCtr="0" anchor="ctr" bIns="30000" lIns="60000" spcFirstLastPara="1" rIns="60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PE</a:t>
            </a:r>
            <a:br>
              <a:rPr b="1" i="0" lang="en-US" sz="1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b="1" i="0" lang="en-US" sz="1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Top Decile</a:t>
            </a:r>
            <a:endParaRPr/>
          </a:p>
        </p:txBody>
      </p:sp>
      <p:sp>
        <p:nvSpPr>
          <p:cNvPr id="347" name="Google Shape;347;p15"/>
          <p:cNvSpPr/>
          <p:nvPr/>
        </p:nvSpPr>
        <p:spPr>
          <a:xfrm>
            <a:off x="3820000" y="850000"/>
            <a:ext cx="1700000" cy="400000"/>
          </a:xfrm>
          <a:prstGeom prst="rect">
            <a:avLst/>
          </a:prstGeom>
          <a:solidFill>
            <a:srgbClr val="1D2233"/>
          </a:solidFill>
          <a:ln>
            <a:noFill/>
          </a:ln>
        </p:spPr>
        <p:txBody>
          <a:bodyPr anchorCtr="0" anchor="ctr" bIns="30000" lIns="60000" spcFirstLastPara="1" rIns="60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VC</a:t>
            </a:r>
            <a:br>
              <a:rPr b="1" i="0" lang="en-US" sz="1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b="1" i="0" lang="en-US" sz="1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Top Decile</a:t>
            </a:r>
            <a:endParaRPr/>
          </a:p>
        </p:txBody>
      </p:sp>
      <p:sp>
        <p:nvSpPr>
          <p:cNvPr id="348" name="Google Shape;348;p15"/>
          <p:cNvSpPr/>
          <p:nvPr/>
        </p:nvSpPr>
        <p:spPr>
          <a:xfrm>
            <a:off x="5580000" y="850000"/>
            <a:ext cx="25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30000" lIns="60000" spcFirstLastPara="1" rIns="60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PRESS</a:t>
            </a:r>
            <a:endParaRPr/>
          </a:p>
        </p:txBody>
      </p:sp>
      <p:sp>
        <p:nvSpPr>
          <p:cNvPr id="349" name="Google Shape;349;p15"/>
          <p:cNvSpPr/>
          <p:nvPr/>
        </p:nvSpPr>
        <p:spPr>
          <a:xfrm>
            <a:off x="400000" y="1250000"/>
            <a:ext cx="16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Net IRR</a:t>
            </a:r>
            <a:endParaRPr/>
          </a:p>
        </p:txBody>
      </p:sp>
      <p:sp>
        <p:nvSpPr>
          <p:cNvPr id="350" name="Google Shape;350;p15"/>
          <p:cNvSpPr/>
          <p:nvPr/>
        </p:nvSpPr>
        <p:spPr>
          <a:xfrm>
            <a:off x="2060000" y="1250000"/>
            <a:ext cx="17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25-30%</a:t>
            </a:r>
            <a:endParaRPr/>
          </a:p>
        </p:txBody>
      </p:sp>
      <p:sp>
        <p:nvSpPr>
          <p:cNvPr id="351" name="Google Shape;351;p15"/>
          <p:cNvSpPr/>
          <p:nvPr/>
        </p:nvSpPr>
        <p:spPr>
          <a:xfrm>
            <a:off x="3820000" y="1250000"/>
            <a:ext cx="17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30-40%</a:t>
            </a:r>
            <a:endParaRPr/>
          </a:p>
        </p:txBody>
      </p:sp>
      <p:sp>
        <p:nvSpPr>
          <p:cNvPr id="352" name="Google Shape;352;p15"/>
          <p:cNvSpPr/>
          <p:nvPr/>
        </p:nvSpPr>
        <p:spPr>
          <a:xfrm>
            <a:off x="5580000" y="1250000"/>
            <a:ext cx="2500000" cy="340000"/>
          </a:xfrm>
          <a:prstGeom prst="rect">
            <a:avLst/>
          </a:prstGeom>
          <a:solidFill>
            <a:srgbClr val="1A1510"/>
          </a:solidFill>
          <a:ln>
            <a:noFill/>
          </a:ln>
        </p:spPr>
        <p:txBody>
          <a:bodyPr anchorCtr="0" anchor="ctr" bIns="20000" lIns="8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25.9%</a:t>
            </a:r>
            <a:endParaRPr/>
          </a:p>
        </p:txBody>
      </p:sp>
      <p:sp>
        <p:nvSpPr>
          <p:cNvPr id="353" name="Google Shape;353;p15"/>
          <p:cNvSpPr/>
          <p:nvPr/>
        </p:nvSpPr>
        <p:spPr>
          <a:xfrm>
            <a:off x="5580000" y="1250000"/>
            <a:ext cx="30000" cy="34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400000" y="1590000"/>
            <a:ext cx="1600000" cy="34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DPI</a:t>
            </a:r>
            <a:endParaRPr/>
          </a:p>
        </p:txBody>
      </p:sp>
      <p:sp>
        <p:nvSpPr>
          <p:cNvPr id="355" name="Google Shape;355;p15"/>
          <p:cNvSpPr/>
          <p:nvPr/>
        </p:nvSpPr>
        <p:spPr>
          <a:xfrm>
            <a:off x="2060000" y="1590000"/>
            <a:ext cx="1700000" cy="34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1.8-2.2x</a:t>
            </a:r>
            <a:endParaRPr/>
          </a:p>
        </p:txBody>
      </p:sp>
      <p:sp>
        <p:nvSpPr>
          <p:cNvPr id="356" name="Google Shape;356;p15"/>
          <p:cNvSpPr/>
          <p:nvPr/>
        </p:nvSpPr>
        <p:spPr>
          <a:xfrm>
            <a:off x="3820000" y="1590000"/>
            <a:ext cx="1700000" cy="34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1.5-2.5x</a:t>
            </a:r>
            <a:endParaRPr/>
          </a:p>
        </p:txBody>
      </p:sp>
      <p:sp>
        <p:nvSpPr>
          <p:cNvPr id="357" name="Google Shape;357;p15"/>
          <p:cNvSpPr/>
          <p:nvPr/>
        </p:nvSpPr>
        <p:spPr>
          <a:xfrm>
            <a:off x="5580000" y="1590000"/>
            <a:ext cx="2500000" cy="340000"/>
          </a:xfrm>
          <a:prstGeom prst="rect">
            <a:avLst/>
          </a:prstGeom>
          <a:solidFill>
            <a:srgbClr val="1A1510"/>
          </a:solidFill>
          <a:ln>
            <a:noFill/>
          </a:ln>
        </p:spPr>
        <p:txBody>
          <a:bodyPr anchorCtr="0" anchor="ctr" bIns="20000" lIns="8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3.50x</a:t>
            </a:r>
            <a:endParaRPr/>
          </a:p>
        </p:txBody>
      </p:sp>
      <p:sp>
        <p:nvSpPr>
          <p:cNvPr id="358" name="Google Shape;358;p15"/>
          <p:cNvSpPr/>
          <p:nvPr/>
        </p:nvSpPr>
        <p:spPr>
          <a:xfrm>
            <a:off x="5580000" y="1590000"/>
            <a:ext cx="30000" cy="34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400000" y="1930000"/>
            <a:ext cx="16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Time to cash</a:t>
            </a:r>
            <a:endParaRPr/>
          </a:p>
        </p:txBody>
      </p:sp>
      <p:sp>
        <p:nvSpPr>
          <p:cNvPr id="360" name="Google Shape;360;p15"/>
          <p:cNvSpPr/>
          <p:nvPr/>
        </p:nvSpPr>
        <p:spPr>
          <a:xfrm>
            <a:off x="2060000" y="1930000"/>
            <a:ext cx="17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4-6 years</a:t>
            </a:r>
            <a:endParaRPr/>
          </a:p>
        </p:txBody>
      </p:sp>
      <p:sp>
        <p:nvSpPr>
          <p:cNvPr id="361" name="Google Shape;361;p15"/>
          <p:cNvSpPr/>
          <p:nvPr/>
        </p:nvSpPr>
        <p:spPr>
          <a:xfrm>
            <a:off x="3820000" y="1930000"/>
            <a:ext cx="17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3-5 years</a:t>
            </a:r>
            <a:endParaRPr/>
          </a:p>
        </p:txBody>
      </p:sp>
      <p:sp>
        <p:nvSpPr>
          <p:cNvPr id="362" name="Google Shape;362;p15"/>
          <p:cNvSpPr/>
          <p:nvPr/>
        </p:nvSpPr>
        <p:spPr>
          <a:xfrm>
            <a:off x="5580000" y="1930000"/>
            <a:ext cx="2500000" cy="340000"/>
          </a:xfrm>
          <a:prstGeom prst="rect">
            <a:avLst/>
          </a:prstGeom>
          <a:solidFill>
            <a:srgbClr val="1A1510"/>
          </a:solidFill>
          <a:ln>
            <a:noFill/>
          </a:ln>
        </p:spPr>
        <p:txBody>
          <a:bodyPr anchorCtr="0" anchor="ctr" bIns="20000" lIns="8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Year 1</a:t>
            </a:r>
            <a:endParaRPr/>
          </a:p>
        </p:txBody>
      </p:sp>
      <p:sp>
        <p:nvSpPr>
          <p:cNvPr id="363" name="Google Shape;363;p15"/>
          <p:cNvSpPr/>
          <p:nvPr/>
        </p:nvSpPr>
        <p:spPr>
          <a:xfrm>
            <a:off x="5580000" y="1930000"/>
            <a:ext cx="30000" cy="34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400000" y="2270000"/>
            <a:ext cx="1600000" cy="34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Time to payback</a:t>
            </a:r>
            <a:endParaRPr/>
          </a:p>
        </p:txBody>
      </p:sp>
      <p:sp>
        <p:nvSpPr>
          <p:cNvPr id="365" name="Google Shape;365;p15"/>
          <p:cNvSpPr/>
          <p:nvPr/>
        </p:nvSpPr>
        <p:spPr>
          <a:xfrm>
            <a:off x="2060000" y="2270000"/>
            <a:ext cx="1700000" cy="34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4-6 years</a:t>
            </a:r>
            <a:endParaRPr/>
          </a:p>
        </p:txBody>
      </p:sp>
      <p:sp>
        <p:nvSpPr>
          <p:cNvPr id="366" name="Google Shape;366;p15"/>
          <p:cNvSpPr/>
          <p:nvPr/>
        </p:nvSpPr>
        <p:spPr>
          <a:xfrm>
            <a:off x="3820000" y="2270000"/>
            <a:ext cx="1700000" cy="34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5-7 years</a:t>
            </a:r>
            <a:endParaRPr/>
          </a:p>
        </p:txBody>
      </p:sp>
      <p:sp>
        <p:nvSpPr>
          <p:cNvPr id="367" name="Google Shape;367;p15"/>
          <p:cNvSpPr/>
          <p:nvPr/>
        </p:nvSpPr>
        <p:spPr>
          <a:xfrm>
            <a:off x="5580000" y="2270000"/>
            <a:ext cx="2500000" cy="340000"/>
          </a:xfrm>
          <a:prstGeom prst="rect">
            <a:avLst/>
          </a:prstGeom>
          <a:solidFill>
            <a:srgbClr val="1A1510"/>
          </a:solidFill>
          <a:ln>
            <a:noFill/>
          </a:ln>
        </p:spPr>
        <p:txBody>
          <a:bodyPr anchorCtr="0" anchor="ctr" bIns="20000" lIns="8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Year 4</a:t>
            </a:r>
            <a:endParaRPr/>
          </a:p>
        </p:txBody>
      </p:sp>
      <p:sp>
        <p:nvSpPr>
          <p:cNvPr id="368" name="Google Shape;368;p15"/>
          <p:cNvSpPr/>
          <p:nvPr/>
        </p:nvSpPr>
        <p:spPr>
          <a:xfrm>
            <a:off x="5580000" y="2270000"/>
            <a:ext cx="30000" cy="34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400000" y="2610000"/>
            <a:ext cx="16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Return type</a:t>
            </a: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2060000" y="2610000"/>
            <a:ext cx="17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Paper markups</a:t>
            </a:r>
            <a:endParaRPr/>
          </a:p>
        </p:txBody>
      </p:sp>
      <p:sp>
        <p:nvSpPr>
          <p:cNvPr id="371" name="Google Shape;371;p15"/>
          <p:cNvSpPr/>
          <p:nvPr/>
        </p:nvSpPr>
        <p:spPr>
          <a:xfrm>
            <a:off x="3820000" y="2610000"/>
            <a:ext cx="17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Paper markups</a:t>
            </a:r>
            <a:endParaRPr/>
          </a:p>
        </p:txBody>
      </p:sp>
      <p:sp>
        <p:nvSpPr>
          <p:cNvPr id="372" name="Google Shape;372;p15"/>
          <p:cNvSpPr/>
          <p:nvPr/>
        </p:nvSpPr>
        <p:spPr>
          <a:xfrm>
            <a:off x="5580000" y="2610000"/>
            <a:ext cx="2500000" cy="340000"/>
          </a:xfrm>
          <a:prstGeom prst="rect">
            <a:avLst/>
          </a:prstGeom>
          <a:solidFill>
            <a:srgbClr val="1A1510"/>
          </a:solidFill>
          <a:ln>
            <a:noFill/>
          </a:ln>
        </p:spPr>
        <p:txBody>
          <a:bodyPr anchorCtr="0" anchor="ctr" bIns="20000" lIns="8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Realized cash</a:t>
            </a:r>
            <a:endParaRPr/>
          </a:p>
        </p:txBody>
      </p:sp>
      <p:sp>
        <p:nvSpPr>
          <p:cNvPr id="373" name="Google Shape;373;p15"/>
          <p:cNvSpPr/>
          <p:nvPr/>
        </p:nvSpPr>
        <p:spPr>
          <a:xfrm>
            <a:off x="5580000" y="2610000"/>
            <a:ext cx="30000" cy="34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400000" y="2950000"/>
            <a:ext cx="1600000" cy="34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Exit dependency</a:t>
            </a:r>
            <a:endParaRPr/>
          </a:p>
        </p:txBody>
      </p:sp>
      <p:sp>
        <p:nvSpPr>
          <p:cNvPr id="375" name="Google Shape;375;p15"/>
          <p:cNvSpPr/>
          <p:nvPr/>
        </p:nvSpPr>
        <p:spPr>
          <a:xfrm>
            <a:off x="2060000" y="2950000"/>
            <a:ext cx="1700000" cy="34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M&amp;A required</a:t>
            </a:r>
            <a:endParaRPr/>
          </a:p>
        </p:txBody>
      </p:sp>
      <p:sp>
        <p:nvSpPr>
          <p:cNvPr id="376" name="Google Shape;376;p15"/>
          <p:cNvSpPr/>
          <p:nvPr/>
        </p:nvSpPr>
        <p:spPr>
          <a:xfrm>
            <a:off x="3820000" y="2950000"/>
            <a:ext cx="1700000" cy="34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IPO / M&amp;A</a:t>
            </a:r>
            <a:endParaRPr/>
          </a:p>
        </p:txBody>
      </p:sp>
      <p:sp>
        <p:nvSpPr>
          <p:cNvPr id="377" name="Google Shape;377;p15"/>
          <p:cNvSpPr/>
          <p:nvPr/>
        </p:nvSpPr>
        <p:spPr>
          <a:xfrm>
            <a:off x="5580000" y="2950000"/>
            <a:ext cx="2500000" cy="340000"/>
          </a:xfrm>
          <a:prstGeom prst="rect">
            <a:avLst/>
          </a:prstGeom>
          <a:solidFill>
            <a:srgbClr val="1A1510"/>
          </a:solidFill>
          <a:ln>
            <a:noFill/>
          </a:ln>
        </p:spPr>
        <p:txBody>
          <a:bodyPr anchorCtr="0" anchor="ctr" bIns="20000" lIns="8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None</a:t>
            </a:r>
            <a:endParaRPr/>
          </a:p>
        </p:txBody>
      </p:sp>
      <p:sp>
        <p:nvSpPr>
          <p:cNvPr id="378" name="Google Shape;378;p15"/>
          <p:cNvSpPr/>
          <p:nvPr/>
        </p:nvSpPr>
        <p:spPr>
          <a:xfrm>
            <a:off x="5580000" y="2950000"/>
            <a:ext cx="30000" cy="34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400000" y="3290000"/>
            <a:ext cx="16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Fund life</a:t>
            </a:r>
            <a:endParaRPr/>
          </a:p>
        </p:txBody>
      </p:sp>
      <p:sp>
        <p:nvSpPr>
          <p:cNvPr id="380" name="Google Shape;380;p15"/>
          <p:cNvSpPr/>
          <p:nvPr/>
        </p:nvSpPr>
        <p:spPr>
          <a:xfrm>
            <a:off x="2060000" y="3290000"/>
            <a:ext cx="17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10-12 years</a:t>
            </a:r>
            <a:endParaRPr/>
          </a:p>
        </p:txBody>
      </p:sp>
      <p:sp>
        <p:nvSpPr>
          <p:cNvPr id="381" name="Google Shape;381;p15"/>
          <p:cNvSpPr/>
          <p:nvPr/>
        </p:nvSpPr>
        <p:spPr>
          <a:xfrm>
            <a:off x="3820000" y="3290000"/>
            <a:ext cx="17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10-12 years</a:t>
            </a:r>
            <a:endParaRPr/>
          </a:p>
        </p:txBody>
      </p:sp>
      <p:sp>
        <p:nvSpPr>
          <p:cNvPr id="382" name="Google Shape;382;p15"/>
          <p:cNvSpPr/>
          <p:nvPr/>
        </p:nvSpPr>
        <p:spPr>
          <a:xfrm>
            <a:off x="5580000" y="3290000"/>
            <a:ext cx="2500000" cy="340000"/>
          </a:xfrm>
          <a:prstGeom prst="rect">
            <a:avLst/>
          </a:prstGeom>
          <a:solidFill>
            <a:srgbClr val="1A1510"/>
          </a:solidFill>
          <a:ln>
            <a:noFill/>
          </a:ln>
        </p:spPr>
        <p:txBody>
          <a:bodyPr anchorCtr="0" anchor="ctr" bIns="20000" lIns="8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Permanent</a:t>
            </a:r>
            <a:endParaRPr/>
          </a:p>
        </p:txBody>
      </p:sp>
      <p:sp>
        <p:nvSpPr>
          <p:cNvPr id="383" name="Google Shape;383;p15"/>
          <p:cNvSpPr/>
          <p:nvPr/>
        </p:nvSpPr>
        <p:spPr>
          <a:xfrm>
            <a:off x="5580000" y="3290000"/>
            <a:ext cx="30000" cy="34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6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502920" y="91440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3600"/>
              <a:buFont typeface="Libre Franklin"/>
              <a:buNone/>
            </a:pPr>
            <a:r>
              <a:rPr b="1" i="0" lang="en-US" sz="36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Zero leverage.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6"/>
          <p:cNvSpPr/>
          <p:nvPr/>
        </p:nvSpPr>
        <p:spPr>
          <a:xfrm>
            <a:off x="502920" y="169164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3600"/>
              <a:buFont typeface="Libre Franklin"/>
              <a:buNone/>
            </a:pPr>
            <a:r>
              <a:rPr b="1" i="0" lang="en-US" sz="36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Zero exit dependency.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6"/>
          <p:cNvSpPr/>
          <p:nvPr/>
        </p:nvSpPr>
        <p:spPr>
          <a:xfrm>
            <a:off x="502920" y="246888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3600"/>
              <a:buFont typeface="Libre Franklin"/>
              <a:buNone/>
            </a:pPr>
            <a:r>
              <a:rPr b="1" i="0" lang="en-US" sz="36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Zero lockup.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502920" y="324612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3600"/>
              <a:buFont typeface="Libre Franklin"/>
              <a:buNone/>
            </a:pPr>
            <a:r>
              <a:rPr b="1" i="0" lang="en-US" sz="36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Durable cash.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6"/>
          <p:cNvSpPr/>
          <p:nvPr/>
        </p:nvSpPr>
        <p:spPr>
          <a:xfrm>
            <a:off x="502920" y="411480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Every dollar of return is real cash in your account. Every quarter.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6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6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8F6F2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7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7"/>
          <p:cNvSpPr/>
          <p:nvPr/>
        </p:nvSpPr>
        <p:spPr>
          <a:xfrm>
            <a:off x="502920" y="1828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Deployment Timeline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7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7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7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7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7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19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3" name="Google Shape;413;p17"/>
          <p:cNvGraphicFramePr/>
          <p:nvPr/>
        </p:nvGraphicFramePr>
        <p:xfrm>
          <a:off x="50292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{2D6174C4-8489-49B3-8E89-77AB7ED8F414}</a:tableStyleId>
              </a:tblPr>
              <a:tblGrid>
                <a:gridCol w="1097275"/>
                <a:gridCol w="5486400"/>
                <a:gridCol w="109727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Month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Milestone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Team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9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M1-3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CEO + CFO. Deal hunting. Pipeline building.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2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M3-4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CTO, CPO, COO join. 6 direct reports at $200K.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11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M4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Deal 1 closes. ~$24M ARR.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11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M7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Deal 2 closes. CRO + 3 at $200K.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15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M10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Deal 3 closes. 4 at $100K.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19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M12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Deal 4 closes. 2 at $100K.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19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M14-16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Deal 5 closes. 2 at $100K. Full team.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20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4" name="Google Shape;414;p17"/>
          <p:cNvSpPr/>
          <p:nvPr/>
        </p:nvSpPr>
        <p:spPr>
          <a:xfrm>
            <a:off x="502920" y="384048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1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Team never ahead of revenue. Every hire justified by a closed acquisition.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8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8"/>
          <p:cNvSpPr/>
          <p:nvPr/>
        </p:nvSpPr>
        <p:spPr>
          <a:xfrm>
            <a:off x="502920" y="180000"/>
            <a:ext cx="75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Appendix</a:t>
            </a:r>
            <a:endParaRPr/>
          </a:p>
        </p:txBody>
      </p:sp>
      <p:sp>
        <p:nvSpPr>
          <p:cNvPr id="421" name="Google Shape;421;p18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422" name="Google Shape;422;p18"/>
          <p:cNvSpPr/>
          <p:nvPr/>
        </p:nvSpPr>
        <p:spPr>
          <a:xfrm>
            <a:off x="502920" y="2000000"/>
            <a:ext cx="80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Supporting materials for diligence conversations.</a:t>
            </a:r>
            <a:endParaRPr/>
          </a:p>
        </p:txBody>
      </p:sp>
      <p:sp>
        <p:nvSpPr>
          <p:cNvPr id="423" name="Google Shape;423;p18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9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9"/>
          <p:cNvSpPr/>
          <p:nvPr/>
        </p:nvSpPr>
        <p:spPr>
          <a:xfrm>
            <a:off x="502920" y="180000"/>
            <a:ext cx="75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Fee Alignment</a:t>
            </a:r>
            <a:endParaRPr/>
          </a:p>
        </p:txBody>
      </p:sp>
      <p:sp>
        <p:nvSpPr>
          <p:cNvPr id="431" name="Google Shape;431;p19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432" name="Google Shape;432;p19"/>
          <p:cNvSpPr/>
          <p:nvPr/>
        </p:nvSpPr>
        <p:spPr>
          <a:xfrm>
            <a:off x="502920" y="900000"/>
            <a:ext cx="3950000" cy="9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9"/>
          <p:cNvSpPr/>
          <p:nvPr/>
        </p:nvSpPr>
        <p:spPr>
          <a:xfrm>
            <a:off x="502920" y="900000"/>
            <a:ext cx="36000" cy="9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9"/>
          <p:cNvSpPr/>
          <p:nvPr/>
        </p:nvSpPr>
        <p:spPr>
          <a:xfrm>
            <a:off x="682920" y="980000"/>
            <a:ext cx="3670000" cy="7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TRADITIONAL GP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$30M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2% of $150M for 10 years. Industry standard.</a:t>
            </a:r>
            <a:endParaRPr/>
          </a:p>
        </p:txBody>
      </p:sp>
      <p:sp>
        <p:nvSpPr>
          <p:cNvPr id="435" name="Google Shape;435;p19"/>
          <p:cNvSpPr/>
          <p:nvPr/>
        </p:nvSpPr>
        <p:spPr>
          <a:xfrm>
            <a:off x="4650000" y="900000"/>
            <a:ext cx="3950000" cy="9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9"/>
          <p:cNvSpPr/>
          <p:nvPr/>
        </p:nvSpPr>
        <p:spPr>
          <a:xfrm>
            <a:off x="4650000" y="900000"/>
            <a:ext cx="36000" cy="9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9"/>
          <p:cNvSpPr/>
          <p:nvPr/>
        </p:nvSpPr>
        <p:spPr>
          <a:xfrm>
            <a:off x="4830000" y="980000"/>
            <a:ext cx="3670000" cy="7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$3M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2% of $150M until 3 deals close. 0% after that. Ever.</a:t>
            </a:r>
            <a:endParaRPr/>
          </a:p>
        </p:txBody>
      </p:sp>
      <p:sp>
        <p:nvSpPr>
          <p:cNvPr id="438" name="Google Shape;438;p19"/>
          <p:cNvSpPr/>
          <p:nvPr/>
        </p:nvSpPr>
        <p:spPr>
          <a:xfrm>
            <a:off x="502920" y="2000000"/>
            <a:ext cx="8100000" cy="9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9"/>
          <p:cNvSpPr/>
          <p:nvPr/>
        </p:nvSpPr>
        <p:spPr>
          <a:xfrm>
            <a:off x="502920" y="2000000"/>
            <a:ext cx="36000" cy="9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9"/>
          <p:cNvSpPr/>
          <p:nvPr/>
        </p:nvSpPr>
        <p:spPr>
          <a:xfrm>
            <a:off x="682920" y="2080000"/>
            <a:ext cx="7820000" cy="7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LP SAVINGS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$27M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Returned to LPs as distributions, not extracted as fees. The fee structure is the alignment -- not a GP check.</a:t>
            </a:r>
            <a:endParaRPr/>
          </a:p>
        </p:txBody>
      </p:sp>
      <p:sp>
        <p:nvSpPr>
          <p:cNvPr id="441" name="Google Shape;441;p19"/>
          <p:cNvSpPr/>
          <p:nvPr/>
        </p:nvSpPr>
        <p:spPr>
          <a:xfrm>
            <a:off x="502920" y="3150000"/>
            <a:ext cx="810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Most GPs charge 2% for a decade regardless of performance. Press charges 2% only during deployment, then runs operations from the gross-to-net margin delta. Press makes money when LPs make money.</a:t>
            </a:r>
            <a:endParaRPr/>
          </a:p>
        </p:txBody>
      </p:sp>
      <p:sp>
        <p:nvSpPr>
          <p:cNvPr id="442" name="Google Shape;442;p19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9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0"/>
          <p:cNvSpPr/>
          <p:nvPr/>
        </p:nvSpPr>
        <p:spPr>
          <a:xfrm>
            <a:off x="502920" y="180000"/>
            <a:ext cx="75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Key-Person Provision</a:t>
            </a:r>
            <a:endParaRPr/>
          </a:p>
        </p:txBody>
      </p:sp>
      <p:sp>
        <p:nvSpPr>
          <p:cNvPr id="450" name="Google Shape;450;p20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451" name="Google Shape;451;p20"/>
          <p:cNvSpPr/>
          <p:nvPr/>
        </p:nvSpPr>
        <p:spPr>
          <a:xfrm>
            <a:off x="502920" y="900000"/>
            <a:ext cx="81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If the CEO is unable to continue, the key-person provision pauses new acquisitions. Existing portfolio companies continue operating under the C-suite and distributing cash to LPs.</a:t>
            </a:r>
            <a:endParaRPr/>
          </a:p>
        </p:txBody>
      </p:sp>
      <p:sp>
        <p:nvSpPr>
          <p:cNvPr id="452" name="Google Shape;452;p20"/>
          <p:cNvSpPr/>
          <p:nvPr/>
        </p:nvSpPr>
        <p:spPr>
          <a:xfrm>
            <a:off x="502920" y="1600000"/>
            <a:ext cx="3950000" cy="10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0"/>
          <p:cNvSpPr/>
          <p:nvPr/>
        </p:nvSpPr>
        <p:spPr>
          <a:xfrm>
            <a:off x="502920" y="1600000"/>
            <a:ext cx="36000" cy="10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0"/>
          <p:cNvSpPr/>
          <p:nvPr/>
        </p:nvSpPr>
        <p:spPr>
          <a:xfrm>
            <a:off x="682920" y="1680000"/>
            <a:ext cx="36700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COO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Succession Path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Groomed for CEO role. Owns the integration playbook, HR, legal, and due diligence. Runs every post-close transition.</a:t>
            </a:r>
            <a:endParaRPr/>
          </a:p>
        </p:txBody>
      </p:sp>
      <p:sp>
        <p:nvSpPr>
          <p:cNvPr id="455" name="Google Shape;455;p20"/>
          <p:cNvSpPr/>
          <p:nvPr/>
        </p:nvSpPr>
        <p:spPr>
          <a:xfrm>
            <a:off x="4650000" y="1600000"/>
            <a:ext cx="3950000" cy="10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0"/>
          <p:cNvSpPr/>
          <p:nvPr/>
        </p:nvSpPr>
        <p:spPr>
          <a:xfrm>
            <a:off x="4650000" y="1600000"/>
            <a:ext cx="36000" cy="10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0"/>
          <p:cNvSpPr/>
          <p:nvPr/>
        </p:nvSpPr>
        <p:spPr>
          <a:xfrm>
            <a:off x="4830000" y="1680000"/>
            <a:ext cx="36700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CPO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Succession Path 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Groomed for CEO role. Owns customer retention, product stickiness, and the PM team. Closest to the revenue.</a:t>
            </a:r>
            <a:endParaRPr/>
          </a:p>
        </p:txBody>
      </p:sp>
      <p:sp>
        <p:nvSpPr>
          <p:cNvPr id="458" name="Google Shape;458;p20"/>
          <p:cNvSpPr/>
          <p:nvPr/>
        </p:nvSpPr>
        <p:spPr>
          <a:xfrm>
            <a:off x="502920" y="2900000"/>
            <a:ext cx="810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The operating model does not depend on the CEO being operational. The CEO is the Visionary. The C-suite runs day-to-day. AI infrastructure runs dashboards, reporting, and triage without human compilation. Two designated successors ensure continuity.</a:t>
            </a:r>
            <a:endParaRPr/>
          </a:p>
        </p:txBody>
      </p:sp>
      <p:sp>
        <p:nvSpPr>
          <p:cNvPr id="459" name="Google Shape;459;p20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0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1"/>
          <p:cNvSpPr/>
          <p:nvPr/>
        </p:nvSpPr>
        <p:spPr>
          <a:xfrm>
            <a:off x="502920" y="180000"/>
            <a:ext cx="75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Why NDR Holds Through Transition</a:t>
            </a:r>
            <a:endParaRPr/>
          </a:p>
        </p:txBody>
      </p:sp>
      <p:sp>
        <p:nvSpPr>
          <p:cNvPr id="467" name="Google Shape;467;p21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468" name="Google Shape;468;p21"/>
          <p:cNvSpPr/>
          <p:nvPr/>
        </p:nvSpPr>
        <p:spPr>
          <a:xfrm>
            <a:off x="502920" y="850000"/>
            <a:ext cx="8138160" cy="6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1"/>
          <p:cNvSpPr/>
          <p:nvPr/>
        </p:nvSpPr>
        <p:spPr>
          <a:xfrm>
            <a:off x="502920" y="850000"/>
            <a:ext cx="36000" cy="6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1"/>
          <p:cNvSpPr/>
          <p:nvPr/>
        </p:nvSpPr>
        <p:spPr>
          <a:xfrm>
            <a:off x="700000" y="900000"/>
            <a:ext cx="78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GROWTH HEADCOUNT REMOVED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Most SaaS companies are structured for growth. The bulk of headcount is growth-related. We retain only retention-related staff through the first 18 months, then transition to the OpCo team.</a:t>
            </a:r>
            <a:endParaRPr/>
          </a:p>
        </p:txBody>
      </p:sp>
      <p:sp>
        <p:nvSpPr>
          <p:cNvPr id="471" name="Google Shape;471;p21"/>
          <p:cNvSpPr/>
          <p:nvPr/>
        </p:nvSpPr>
        <p:spPr>
          <a:xfrm>
            <a:off x="502920" y="1550000"/>
            <a:ext cx="8138160" cy="6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1"/>
          <p:cNvSpPr/>
          <p:nvPr/>
        </p:nvSpPr>
        <p:spPr>
          <a:xfrm>
            <a:off x="502920" y="1550000"/>
            <a:ext cx="36000" cy="6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1"/>
          <p:cNvSpPr/>
          <p:nvPr/>
        </p:nvSpPr>
        <p:spPr>
          <a:xfrm>
            <a:off x="700000" y="1600000"/>
            <a:ext cx="78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PM = ACCOUNT MANAGER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Product managers own customer relationships at the product level. Deeper knowledge, zero handoffs, better service. AI is not only flattening organizations -- it is narrowing them.</a:t>
            </a:r>
            <a:endParaRPr/>
          </a:p>
        </p:txBody>
      </p:sp>
      <p:sp>
        <p:nvSpPr>
          <p:cNvPr id="474" name="Google Shape;474;p21"/>
          <p:cNvSpPr/>
          <p:nvPr/>
        </p:nvSpPr>
        <p:spPr>
          <a:xfrm>
            <a:off x="502920" y="2250000"/>
            <a:ext cx="8138160" cy="6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1"/>
          <p:cNvSpPr/>
          <p:nvPr/>
        </p:nvSpPr>
        <p:spPr>
          <a:xfrm>
            <a:off x="502920" y="2250000"/>
            <a:ext cx="36000" cy="6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1"/>
          <p:cNvSpPr/>
          <p:nvPr/>
        </p:nvSpPr>
        <p:spPr>
          <a:xfrm>
            <a:off x="700000" y="2300000"/>
            <a:ext cx="78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ANNUAL CONTRACTS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Existing contracts provide 12-month runway. Customers experience continuity of service while the cost structure transforms underneath.</a:t>
            </a:r>
            <a:endParaRPr/>
          </a:p>
        </p:txBody>
      </p:sp>
      <p:sp>
        <p:nvSpPr>
          <p:cNvPr id="477" name="Google Shape;477;p21"/>
          <p:cNvSpPr/>
          <p:nvPr/>
        </p:nvSpPr>
        <p:spPr>
          <a:xfrm>
            <a:off x="502920" y="2950000"/>
            <a:ext cx="8138160" cy="6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1"/>
          <p:cNvSpPr/>
          <p:nvPr/>
        </p:nvSpPr>
        <p:spPr>
          <a:xfrm>
            <a:off x="502920" y="2950000"/>
            <a:ext cx="36000" cy="6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1"/>
          <p:cNvSpPr/>
          <p:nvPr/>
        </p:nvSpPr>
        <p:spPr>
          <a:xfrm>
            <a:off x="700000" y="3000000"/>
            <a:ext cx="78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MODELED FOR SHRINKAGE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NDR band: Bear 80% / Base 90% / Bull 100% for the 6-year value window (price-led), then 85% gross-retention decay. Growth engine off; net revenue from price + efficient upsell.</a:t>
            </a:r>
            <a:endParaRPr/>
          </a:p>
        </p:txBody>
      </p:sp>
      <p:sp>
        <p:nvSpPr>
          <p:cNvPr id="480" name="Google Shape;480;p21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1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2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2"/>
          <p:cNvSpPr/>
          <p:nvPr/>
        </p:nvSpPr>
        <p:spPr>
          <a:xfrm>
            <a:off x="502920" y="180000"/>
            <a:ext cx="75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Tax Treatment</a:t>
            </a:r>
            <a:endParaRPr/>
          </a:p>
        </p:txBody>
      </p:sp>
      <p:sp>
        <p:nvSpPr>
          <p:cNvPr id="488" name="Google Shape;488;p22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489" name="Google Shape;489;p22"/>
          <p:cNvSpPr/>
          <p:nvPr/>
        </p:nvSpPr>
        <p:spPr>
          <a:xfrm>
            <a:off x="502920" y="900000"/>
            <a:ext cx="8138160" cy="8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22"/>
          <p:cNvSpPr/>
          <p:nvPr/>
        </p:nvSpPr>
        <p:spPr>
          <a:xfrm>
            <a:off x="502920" y="900000"/>
            <a:ext cx="36000" cy="8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2"/>
          <p:cNvSpPr/>
          <p:nvPr/>
        </p:nvSpPr>
        <p:spPr>
          <a:xfrm>
            <a:off x="700000" y="980000"/>
            <a:ext cx="7800000" cy="6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K-1 PASS-THROUGH   </a:t>
            </a:r>
            <a:r>
              <a:rPr b="0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All entities are pass-through. Zero entity-level tax at any layer. LPs receive K-1s quarterly and are taxed at their individual rates.</a:t>
            </a:r>
            <a:endParaRPr/>
          </a:p>
        </p:txBody>
      </p:sp>
      <p:sp>
        <p:nvSpPr>
          <p:cNvPr id="492" name="Google Shape;492;p22"/>
          <p:cNvSpPr/>
          <p:nvPr/>
        </p:nvSpPr>
        <p:spPr>
          <a:xfrm>
            <a:off x="502920" y="1900000"/>
            <a:ext cx="8138160" cy="8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2"/>
          <p:cNvSpPr/>
          <p:nvPr/>
        </p:nvSpPr>
        <p:spPr>
          <a:xfrm>
            <a:off x="502920" y="1900000"/>
            <a:ext cx="36000" cy="8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2"/>
          <p:cNvSpPr/>
          <p:nvPr/>
        </p:nvSpPr>
        <p:spPr>
          <a:xfrm>
            <a:off x="700000" y="1980000"/>
            <a:ext cx="7800000" cy="6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QBI DEDUCTION   </a:t>
            </a:r>
            <a:r>
              <a:rPr b="0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Section 199A potentially reduces the federal rate from 37% to ~29.6% on eligible income. Single largest tax benefit in the Fund I structure.</a:t>
            </a:r>
            <a:endParaRPr/>
          </a:p>
        </p:txBody>
      </p:sp>
      <p:sp>
        <p:nvSpPr>
          <p:cNvPr id="495" name="Google Shape;495;p22"/>
          <p:cNvSpPr/>
          <p:nvPr/>
        </p:nvSpPr>
        <p:spPr>
          <a:xfrm>
            <a:off x="502920" y="2900000"/>
            <a:ext cx="8138160" cy="8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2"/>
          <p:cNvSpPr/>
          <p:nvPr/>
        </p:nvSpPr>
        <p:spPr>
          <a:xfrm>
            <a:off x="502920" y="2900000"/>
            <a:ext cx="36000" cy="8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2"/>
          <p:cNvSpPr/>
          <p:nvPr/>
        </p:nvSpPr>
        <p:spPr>
          <a:xfrm>
            <a:off x="700000" y="2980000"/>
            <a:ext cx="7800000" cy="6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CARRIED INTEREST   </a:t>
            </a:r>
            <a:r>
              <a:rPr b="0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Carry held more than 3 years receives long-term capital gains treatment (20% federal + 3.8% NIIT = 23.8%) instead of ordinary income rates.</a:t>
            </a:r>
            <a:endParaRPr/>
          </a:p>
        </p:txBody>
      </p:sp>
      <p:sp>
        <p:nvSpPr>
          <p:cNvPr id="498" name="Google Shape;498;p22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2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3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3"/>
          <p:cNvSpPr/>
          <p:nvPr/>
        </p:nvSpPr>
        <p:spPr>
          <a:xfrm>
            <a:off x="502920" y="180000"/>
            <a:ext cx="75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First 90 Days Post-Close</a:t>
            </a:r>
            <a:endParaRPr/>
          </a:p>
        </p:txBody>
      </p:sp>
      <p:sp>
        <p:nvSpPr>
          <p:cNvPr id="506" name="Google Shape;506;p23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507" name="Google Shape;507;p23"/>
          <p:cNvSpPr/>
          <p:nvPr/>
        </p:nvSpPr>
        <p:spPr>
          <a:xfrm>
            <a:off x="502920" y="850000"/>
            <a:ext cx="8138160" cy="6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3"/>
          <p:cNvSpPr/>
          <p:nvPr/>
        </p:nvSpPr>
        <p:spPr>
          <a:xfrm>
            <a:off x="502920" y="850000"/>
            <a:ext cx="36000" cy="6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3"/>
          <p:cNvSpPr/>
          <p:nvPr/>
        </p:nvSpPr>
        <p:spPr>
          <a:xfrm>
            <a:off x="700000" y="900000"/>
            <a:ext cx="78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 xml:space="preserve">DAY 1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Announce close to company and customers. Set up meetings with the most important customers. Identify the ~50% of team retained past Day 1 (mapped during diligence).</a:t>
            </a:r>
            <a:endParaRPr/>
          </a:p>
        </p:txBody>
      </p:sp>
      <p:sp>
        <p:nvSpPr>
          <p:cNvPr id="510" name="Google Shape;510;p23"/>
          <p:cNvSpPr/>
          <p:nvPr/>
        </p:nvSpPr>
        <p:spPr>
          <a:xfrm>
            <a:off x="502920" y="1550000"/>
            <a:ext cx="8138160" cy="6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3"/>
          <p:cNvSpPr/>
          <p:nvPr/>
        </p:nvSpPr>
        <p:spPr>
          <a:xfrm>
            <a:off x="502920" y="1550000"/>
            <a:ext cx="36000" cy="6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3"/>
          <p:cNvSpPr/>
          <p:nvPr/>
        </p:nvSpPr>
        <p:spPr>
          <a:xfrm>
            <a:off x="700000" y="1600000"/>
            <a:ext cx="78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 xml:space="preserve">DAYS 1-30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Part ways with 33-50% of staff depending on org structure. Begin high-knowledge transitions: account management, product management, engineering, SaaS ops. Issue vendor nonrenewals for overlapping or low-value contracts.</a:t>
            </a:r>
            <a:endParaRPr/>
          </a:p>
        </p:txBody>
      </p:sp>
      <p:sp>
        <p:nvSpPr>
          <p:cNvPr id="513" name="Google Shape;513;p23"/>
          <p:cNvSpPr/>
          <p:nvPr/>
        </p:nvSpPr>
        <p:spPr>
          <a:xfrm>
            <a:off x="502920" y="2250000"/>
            <a:ext cx="8138160" cy="6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3"/>
          <p:cNvSpPr/>
          <p:nvPr/>
        </p:nvSpPr>
        <p:spPr>
          <a:xfrm>
            <a:off x="502920" y="2250000"/>
            <a:ext cx="36000" cy="6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3"/>
          <p:cNvSpPr/>
          <p:nvPr/>
        </p:nvSpPr>
        <p:spPr>
          <a:xfrm>
            <a:off x="700000" y="2300000"/>
            <a:ext cx="78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 xml:space="preserve">DAYS 30-60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Transition to Press vendor stack. Deploy AI infrastructure. Product roadmap issued to existing customer base. Shut down all unnecessary spend. Remaining transition staff completing knowledge transfer.</a:t>
            </a:r>
            <a:endParaRPr/>
          </a:p>
        </p:txBody>
      </p:sp>
      <p:sp>
        <p:nvSpPr>
          <p:cNvPr id="516" name="Google Shape;516;p23"/>
          <p:cNvSpPr/>
          <p:nvPr/>
        </p:nvSpPr>
        <p:spPr>
          <a:xfrm>
            <a:off x="502920" y="2950000"/>
            <a:ext cx="8138160" cy="6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3"/>
          <p:cNvSpPr/>
          <p:nvPr/>
        </p:nvSpPr>
        <p:spPr>
          <a:xfrm>
            <a:off x="502920" y="2950000"/>
            <a:ext cx="36000" cy="6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3"/>
          <p:cNvSpPr/>
          <p:nvPr/>
        </p:nvSpPr>
        <p:spPr>
          <a:xfrm>
            <a:off x="700000" y="3000000"/>
            <a:ext cx="78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 xml:space="preserve">DAYS 60-90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 xml:space="preserve">AI fully operational on support triage, finance, legal review, marketing. Remaining transition staff offboarded. OpCo team running. </a:t>
            </a:r>
            <a:endParaRPr/>
          </a:p>
        </p:txBody>
      </p:sp>
      <p:sp>
        <p:nvSpPr>
          <p:cNvPr id="519" name="Google Shape;519;p23"/>
          <p:cNvSpPr/>
          <p:nvPr/>
        </p:nvSpPr>
        <p:spPr>
          <a:xfrm>
            <a:off x="502920" y="370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3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3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4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24"/>
          <p:cNvSpPr/>
          <p:nvPr/>
        </p:nvSpPr>
        <p:spPr>
          <a:xfrm>
            <a:off x="502920" y="180000"/>
            <a:ext cx="75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Capital Call Mechanics</a:t>
            </a:r>
            <a:endParaRPr/>
          </a:p>
        </p:txBody>
      </p:sp>
      <p:sp>
        <p:nvSpPr>
          <p:cNvPr id="528" name="Google Shape;528;p24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529" name="Google Shape;529;p24"/>
          <p:cNvSpPr/>
          <p:nvPr/>
        </p:nvSpPr>
        <p:spPr>
          <a:xfrm>
            <a:off x="502920" y="900000"/>
            <a:ext cx="3950000" cy="14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4"/>
          <p:cNvSpPr/>
          <p:nvPr/>
        </p:nvSpPr>
        <p:spPr>
          <a:xfrm>
            <a:off x="502920" y="900000"/>
            <a:ext cx="36000" cy="1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4"/>
          <p:cNvSpPr/>
          <p:nvPr/>
        </p:nvSpPr>
        <p:spPr>
          <a:xfrm>
            <a:off x="682920" y="980000"/>
            <a:ext cx="3670000" cy="1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CALL TIMING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On Deal Close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Capital called pro rata on each acquisition close. No blind pool. You know exactly what you are buying before capital moves.</a:t>
            </a:r>
            <a:endParaRPr/>
          </a:p>
        </p:txBody>
      </p:sp>
      <p:sp>
        <p:nvSpPr>
          <p:cNvPr id="532" name="Google Shape;532;p24"/>
          <p:cNvSpPr/>
          <p:nvPr/>
        </p:nvSpPr>
        <p:spPr>
          <a:xfrm>
            <a:off x="4652920" y="900000"/>
            <a:ext cx="3950000" cy="14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4"/>
          <p:cNvSpPr/>
          <p:nvPr/>
        </p:nvSpPr>
        <p:spPr>
          <a:xfrm>
            <a:off x="4652920" y="900000"/>
            <a:ext cx="36000" cy="1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4"/>
          <p:cNvSpPr/>
          <p:nvPr/>
        </p:nvSpPr>
        <p:spPr>
          <a:xfrm>
            <a:off x="4832920" y="980000"/>
            <a:ext cx="3670000" cy="1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CALLABLE RESERVE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100% of committed capital deployed into acquisitions. Base case includes 50% recycling during the first ~2 years post-deployment.</a:t>
            </a:r>
            <a:endParaRPr/>
          </a:p>
        </p:txBody>
      </p:sp>
      <p:sp>
        <p:nvSpPr>
          <p:cNvPr id="535" name="Google Shape;535;p24"/>
          <p:cNvSpPr/>
          <p:nvPr/>
        </p:nvSpPr>
        <p:spPr>
          <a:xfrm>
            <a:off x="502920" y="2500000"/>
            <a:ext cx="3950000" cy="14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4"/>
          <p:cNvSpPr/>
          <p:nvPr/>
        </p:nvSpPr>
        <p:spPr>
          <a:xfrm>
            <a:off x="502920" y="2500000"/>
            <a:ext cx="36000" cy="1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4"/>
          <p:cNvSpPr/>
          <p:nvPr/>
        </p:nvSpPr>
        <p:spPr>
          <a:xfrm>
            <a:off x="682920" y="2580000"/>
            <a:ext cx="3670000" cy="1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DEPLOYMENT PACE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~16 Months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5 deals. First close ~Month 4. Last close ~Month 16. Fully deployed by end of Year 2.</a:t>
            </a:r>
            <a:endParaRPr/>
          </a:p>
        </p:txBody>
      </p:sp>
      <p:sp>
        <p:nvSpPr>
          <p:cNvPr id="538" name="Google Shape;538;p24"/>
          <p:cNvSpPr/>
          <p:nvPr/>
        </p:nvSpPr>
        <p:spPr>
          <a:xfrm>
            <a:off x="4652920" y="2500000"/>
            <a:ext cx="3950000" cy="14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24"/>
          <p:cNvSpPr/>
          <p:nvPr/>
        </p:nvSpPr>
        <p:spPr>
          <a:xfrm>
            <a:off x="4652920" y="2500000"/>
            <a:ext cx="36000" cy="1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4"/>
          <p:cNvSpPr/>
          <p:nvPr/>
        </p:nvSpPr>
        <p:spPr>
          <a:xfrm>
            <a:off x="4832920" y="2580000"/>
            <a:ext cx="3670000" cy="1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DISTRIBUTIONS BEGIN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Year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Quarterly distributions start as soon as portfolio companies generate positive cash flow post-integration.</a:t>
            </a:r>
            <a:endParaRPr/>
          </a:p>
        </p:txBody>
      </p:sp>
      <p:sp>
        <p:nvSpPr>
          <p:cNvPr id="541" name="Google Shape;541;p24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4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2"/>
        </a:soli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25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5"/>
          <p:cNvSpPr/>
          <p:nvPr/>
        </p:nvSpPr>
        <p:spPr>
          <a:xfrm>
            <a:off x="502920" y="1828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Your $25M Investment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5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5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5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5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5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5"/>
          <p:cNvSpPr/>
          <p:nvPr/>
        </p:nvSpPr>
        <p:spPr>
          <a:xfrm>
            <a:off x="502920" y="86868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3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3A3530"/>
                </a:solidFill>
                <a:latin typeface="DM Sans"/>
                <a:ea typeface="DM Sans"/>
                <a:cs typeface="DM Sans"/>
                <a:sym typeface="DM Sans"/>
              </a:rPr>
              <a:t>Permanent equity. You write one check. You receive a deposit every 90 days. By Year 4, you have your money back. Everything after that is durable cash for as long as these companies operate.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57" name="Google Shape;557;p25"/>
          <p:cNvGraphicFramePr/>
          <p:nvPr/>
        </p:nvGraphicFramePr>
        <p:xfrm>
          <a:off x="50292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{2D6174C4-8489-49B3-8E89-77AB7ED8F414}</a:tableStyleId>
              </a:tblPr>
              <a:tblGrid>
                <a:gridCol w="731525"/>
                <a:gridCol w="731525"/>
                <a:gridCol w="731525"/>
                <a:gridCol w="731525"/>
                <a:gridCol w="731525"/>
                <a:gridCol w="731525"/>
                <a:gridCol w="731525"/>
                <a:gridCol w="731525"/>
                <a:gridCol w="731525"/>
                <a:gridCol w="731525"/>
                <a:gridCol w="73152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Y1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Y2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Y3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Y4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Y5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Y6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Y7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Y8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Y9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Y10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9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Called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$10M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Cash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$10.5M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$12.5M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$11.5M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$11M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$10.5M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$10.5M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$10.5M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$10.5M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Total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$10M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$22.5M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$34M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$45M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$55.5M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$66M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$76.5M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$87M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DPI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0.40x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0.89x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1.36x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1.80x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2.23x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2.65x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3.06x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3.47x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Yield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41%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50%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46%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44%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43%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42%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41%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41%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8" name="Google Shape;558;p25"/>
          <p:cNvSpPr/>
          <p:nvPr/>
        </p:nvSpPr>
        <p:spPr>
          <a:xfrm>
            <a:off x="502920" y="38404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Permanent equity. K-1 annually. Pass-through. No entity-level tax. This is not a 10-year fund -- it is durable cash for as long as the portfolio operates.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6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6"/>
          <p:cNvSpPr/>
          <p:nvPr/>
        </p:nvSpPr>
        <p:spPr>
          <a:xfrm>
            <a:off x="502920" y="3200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Deal Sourcing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6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6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6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6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6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6"/>
          <p:cNvSpPr/>
          <p:nvPr/>
        </p:nvSpPr>
        <p:spPr>
          <a:xfrm>
            <a:off x="502920" y="9144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900"/>
              <a:buFont typeface="IBM Plex Mono"/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THREE CATEGORIES OF MOTIVATED SELLERS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6"/>
          <p:cNvSpPr/>
          <p:nvPr/>
        </p:nvSpPr>
        <p:spPr>
          <a:xfrm>
            <a:off x="502920" y="128016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F8F6F2"/>
                </a:solidFill>
                <a:latin typeface="DM Sans"/>
                <a:ea typeface="DM Sans"/>
                <a:cs typeface="DM Sans"/>
                <a:sym typeface="DM Sans"/>
              </a:rPr>
              <a:t>1. VC-backed companies running out of runway.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6"/>
          <p:cNvSpPr/>
          <p:nvPr/>
        </p:nvSpPr>
        <p:spPr>
          <a:xfrm>
            <a:off x="502920" y="160020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F8F6F2"/>
                </a:solidFill>
                <a:latin typeface="DM Sans"/>
                <a:ea typeface="DM Sans"/>
                <a:cs typeface="DM Sans"/>
                <a:sym typeface="DM Sans"/>
              </a:rPr>
              <a:t>2. PE-backed companies with leverage that no longer works.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6"/>
          <p:cNvSpPr/>
          <p:nvPr/>
        </p:nvSpPr>
        <p:spPr>
          <a:xfrm>
            <a:off x="502920" y="192024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F8F6F2"/>
                </a:solidFill>
                <a:latin typeface="DM Sans"/>
                <a:ea typeface="DM Sans"/>
                <a:cs typeface="DM Sans"/>
                <a:sym typeface="DM Sans"/>
              </a:rPr>
              <a:t>3. Debt-equity situations where lenders took over companies they don't want to run.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6"/>
          <p:cNvSpPr/>
          <p:nvPr/>
        </p:nvSpPr>
        <p:spPr>
          <a:xfrm>
            <a:off x="502920" y="25603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900"/>
              <a:buFont typeface="IBM Plex Mono"/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SOURCING INFRASTRUCTURE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6"/>
          <p:cNvSpPr/>
          <p:nvPr/>
        </p:nvSpPr>
        <p:spPr>
          <a:xfrm>
            <a:off x="502920" y="288036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175+ relationships across sell-side M&amp;A advisory, venture debt lenders, PE portfolio exits, and secondary market platforms. Direct relationships with technology lending teams at multiple banks.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2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7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7"/>
          <p:cNvSpPr/>
          <p:nvPr/>
        </p:nvSpPr>
        <p:spPr>
          <a:xfrm>
            <a:off x="502920" y="1828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Fund I Buy Box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7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27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7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7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7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7"/>
          <p:cNvSpPr/>
          <p:nvPr/>
        </p:nvSpPr>
        <p:spPr>
          <a:xfrm>
            <a:off x="502920" y="960120"/>
            <a:ext cx="2651760" cy="100584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7"/>
          <p:cNvSpPr/>
          <p:nvPr/>
        </p:nvSpPr>
        <p:spPr>
          <a:xfrm>
            <a:off x="502920" y="960120"/>
            <a:ext cx="45720" cy="100584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7"/>
          <p:cNvSpPr/>
          <p:nvPr/>
        </p:nvSpPr>
        <p:spPr>
          <a:xfrm>
            <a:off x="685800" y="105156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7"/>
          <p:cNvSpPr/>
          <p:nvPr/>
        </p:nvSpPr>
        <p:spPr>
          <a:xfrm>
            <a:off x="685800" y="12344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$20-60M ARR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7"/>
          <p:cNvSpPr/>
          <p:nvPr/>
        </p:nvSpPr>
        <p:spPr>
          <a:xfrm>
            <a:off x="685800" y="16002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B2B SaaS, enterprise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7"/>
          <p:cNvSpPr/>
          <p:nvPr/>
        </p:nvSpPr>
        <p:spPr>
          <a:xfrm>
            <a:off x="3337560" y="960120"/>
            <a:ext cx="2651760" cy="100584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7"/>
          <p:cNvSpPr/>
          <p:nvPr/>
        </p:nvSpPr>
        <p:spPr>
          <a:xfrm>
            <a:off x="3337560" y="960120"/>
            <a:ext cx="45720" cy="100584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7"/>
          <p:cNvSpPr/>
          <p:nvPr/>
        </p:nvSpPr>
        <p:spPr>
          <a:xfrm>
            <a:off x="3520440" y="105156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CONTRACTS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7"/>
          <p:cNvSpPr/>
          <p:nvPr/>
        </p:nvSpPr>
        <p:spPr>
          <a:xfrm>
            <a:off x="3520440" y="12344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Annual+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7"/>
          <p:cNvSpPr/>
          <p:nvPr/>
        </p:nvSpPr>
        <p:spPr>
          <a:xfrm>
            <a:off x="3520440" y="16002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No monthly. Sticky.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7"/>
          <p:cNvSpPr/>
          <p:nvPr/>
        </p:nvSpPr>
        <p:spPr>
          <a:xfrm>
            <a:off x="6172200" y="960120"/>
            <a:ext cx="2651760" cy="100584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7"/>
          <p:cNvSpPr/>
          <p:nvPr/>
        </p:nvSpPr>
        <p:spPr>
          <a:xfrm>
            <a:off x="6172200" y="960120"/>
            <a:ext cx="45720" cy="100584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7"/>
          <p:cNvSpPr/>
          <p:nvPr/>
        </p:nvSpPr>
        <p:spPr>
          <a:xfrm>
            <a:off x="6355080" y="105156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STICKINESS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7"/>
          <p:cNvSpPr/>
          <p:nvPr/>
        </p:nvSpPr>
        <p:spPr>
          <a:xfrm>
            <a:off x="6355080" y="12344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Workflow / Data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7"/>
          <p:cNvSpPr/>
          <p:nvPr/>
        </p:nvSpPr>
        <p:spPr>
          <a:xfrm>
            <a:off x="6355080" y="16002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Multi-dept, daily login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7"/>
          <p:cNvSpPr/>
          <p:nvPr/>
        </p:nvSpPr>
        <p:spPr>
          <a:xfrm>
            <a:off x="502920" y="2240280"/>
            <a:ext cx="2651760" cy="100584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27"/>
          <p:cNvSpPr/>
          <p:nvPr/>
        </p:nvSpPr>
        <p:spPr>
          <a:xfrm>
            <a:off x="502920" y="2240280"/>
            <a:ext cx="45720" cy="100584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27"/>
          <p:cNvSpPr/>
          <p:nvPr/>
        </p:nvSpPr>
        <p:spPr>
          <a:xfrm>
            <a:off x="685800" y="233172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ENTRY PRICE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7"/>
          <p:cNvSpPr/>
          <p:nvPr/>
        </p:nvSpPr>
        <p:spPr>
          <a:xfrm>
            <a:off x="685800" y="25146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1.25x ARR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7"/>
          <p:cNvSpPr/>
          <p:nvPr/>
        </p:nvSpPr>
        <p:spPr>
          <a:xfrm>
            <a:off x="685800" y="28803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All cash, zero debt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7"/>
          <p:cNvSpPr/>
          <p:nvPr/>
        </p:nvSpPr>
        <p:spPr>
          <a:xfrm>
            <a:off x="3337560" y="2240280"/>
            <a:ext cx="2651760" cy="100584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27"/>
          <p:cNvSpPr/>
          <p:nvPr/>
        </p:nvSpPr>
        <p:spPr>
          <a:xfrm>
            <a:off x="3337560" y="2240280"/>
            <a:ext cx="45720" cy="100584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27"/>
          <p:cNvSpPr/>
          <p:nvPr/>
        </p:nvSpPr>
        <p:spPr>
          <a:xfrm>
            <a:off x="3520440" y="233172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SELLER TYPE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7"/>
          <p:cNvSpPr/>
          <p:nvPr/>
        </p:nvSpPr>
        <p:spPr>
          <a:xfrm>
            <a:off x="3520440" y="25146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PE / VC / Founder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7"/>
          <p:cNvSpPr/>
          <p:nvPr/>
        </p:nvSpPr>
        <p:spPr>
          <a:xfrm>
            <a:off x="3520440" y="28803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Stalled or motivated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7"/>
          <p:cNvSpPr/>
          <p:nvPr/>
        </p:nvSpPr>
        <p:spPr>
          <a:xfrm>
            <a:off x="6172200" y="2240280"/>
            <a:ext cx="2651760" cy="100584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27"/>
          <p:cNvSpPr/>
          <p:nvPr/>
        </p:nvSpPr>
        <p:spPr>
          <a:xfrm>
            <a:off x="6172200" y="2240280"/>
            <a:ext cx="45720" cy="100584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7"/>
          <p:cNvSpPr/>
          <p:nvPr/>
        </p:nvSpPr>
        <p:spPr>
          <a:xfrm>
            <a:off x="6355080" y="233172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POST-CLOSE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7"/>
          <p:cNvSpPr/>
          <p:nvPr/>
        </p:nvSpPr>
        <p:spPr>
          <a:xfrm>
            <a:off x="6355080" y="25146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Full replacement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7"/>
          <p:cNvSpPr/>
          <p:nvPr/>
        </p:nvSpPr>
        <p:spPr>
          <a:xfrm>
            <a:off x="6355080" y="28803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Our team from Day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7"/>
          <p:cNvSpPr/>
          <p:nvPr/>
        </p:nvSpPr>
        <p:spPr>
          <a:xfrm>
            <a:off x="502920" y="35661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900"/>
              <a:buFont typeface="DM Sans"/>
              <a:buNone/>
            </a:pPr>
            <a:r>
              <a:rPr b="0" i="1" lang="en-US" sz="9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Targets: Series B/C VC failures, overleveraged PE roll-ups, bootstrapped founder exits. Minimal customer success overhead. Regulatory or compliance verticals preferred.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8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28"/>
          <p:cNvSpPr/>
          <p:nvPr/>
        </p:nvSpPr>
        <p:spPr>
          <a:xfrm>
            <a:off x="502920" y="220000"/>
            <a:ext cx="70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Deal Pipeline</a:t>
            </a:r>
            <a:endParaRPr/>
          </a:p>
        </p:txBody>
      </p:sp>
      <p:sp>
        <p:nvSpPr>
          <p:cNvPr id="627" name="Google Shape;627;p28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628" name="Google Shape;628;p28"/>
          <p:cNvSpPr/>
          <p:nvPr/>
        </p:nvSpPr>
        <p:spPr>
          <a:xfrm>
            <a:off x="502920" y="950000"/>
            <a:ext cx="2590000" cy="35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8"/>
          <p:cNvSpPr/>
          <p:nvPr/>
        </p:nvSpPr>
        <p:spPr>
          <a:xfrm>
            <a:off x="502920" y="950000"/>
            <a:ext cx="36000" cy="35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28"/>
          <p:cNvSpPr/>
          <p:nvPr/>
        </p:nvSpPr>
        <p:spPr>
          <a:xfrm>
            <a:off x="680000" y="1020000"/>
            <a:ext cx="2300000" cy="3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DEAL 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HR Tech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ARR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$20M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NDR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91%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CURRENT MARGIN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D8CCBA"/>
                </a:solidFill>
                <a:latin typeface="IBM Plex Mono"/>
                <a:ea typeface="IBM Plex Mono"/>
                <a:cs typeface="IBM Plex Mono"/>
                <a:sym typeface="IBM Plex Mono"/>
              </a:rPr>
              <a:t>-21%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ENTRY PRICE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$25M</a:t>
            </a:r>
            <a:endParaRPr/>
          </a:p>
        </p:txBody>
      </p:sp>
      <p:sp>
        <p:nvSpPr>
          <p:cNvPr id="631" name="Google Shape;631;p28"/>
          <p:cNvSpPr/>
          <p:nvPr/>
        </p:nvSpPr>
        <p:spPr>
          <a:xfrm>
            <a:off x="3277000" y="950000"/>
            <a:ext cx="2590000" cy="35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28"/>
          <p:cNvSpPr/>
          <p:nvPr/>
        </p:nvSpPr>
        <p:spPr>
          <a:xfrm>
            <a:off x="3277000" y="950000"/>
            <a:ext cx="36000" cy="35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28"/>
          <p:cNvSpPr/>
          <p:nvPr/>
        </p:nvSpPr>
        <p:spPr>
          <a:xfrm>
            <a:off x="3454000" y="1020000"/>
            <a:ext cx="2300000" cy="3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DEAL 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Travel Data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ARR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$10M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NDR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88%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CURRENT MARGIN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D8CCBA"/>
                </a:solidFill>
                <a:latin typeface="IBM Plex Mono"/>
                <a:ea typeface="IBM Plex Mono"/>
                <a:cs typeface="IBM Plex Mono"/>
                <a:sym typeface="IBM Plex Mono"/>
              </a:rPr>
              <a:t>-5%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ENTRY PRICE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$10M</a:t>
            </a:r>
            <a:endParaRPr/>
          </a:p>
        </p:txBody>
      </p:sp>
      <p:sp>
        <p:nvSpPr>
          <p:cNvPr id="634" name="Google Shape;634;p28"/>
          <p:cNvSpPr/>
          <p:nvPr/>
        </p:nvSpPr>
        <p:spPr>
          <a:xfrm>
            <a:off x="6051000" y="950000"/>
            <a:ext cx="2590000" cy="35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28"/>
          <p:cNvSpPr/>
          <p:nvPr/>
        </p:nvSpPr>
        <p:spPr>
          <a:xfrm>
            <a:off x="6051000" y="950000"/>
            <a:ext cx="36000" cy="35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28"/>
          <p:cNvSpPr/>
          <p:nvPr/>
        </p:nvSpPr>
        <p:spPr>
          <a:xfrm>
            <a:off x="6228000" y="1020000"/>
            <a:ext cx="2300000" cy="3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DEAL 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Proprietary Data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ARR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$27M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NDR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98%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CURRENT MARGIN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D8CCBA"/>
                </a:solidFill>
                <a:latin typeface="IBM Plex Mono"/>
                <a:ea typeface="IBM Plex Mono"/>
                <a:cs typeface="IBM Plex Mono"/>
                <a:sym typeface="IBM Plex Mono"/>
              </a:rPr>
              <a:t>-5%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ENTRY PRICE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$33.75M</a:t>
            </a:r>
            <a:endParaRPr/>
          </a:p>
        </p:txBody>
      </p:sp>
      <p:sp>
        <p:nvSpPr>
          <p:cNvPr id="637" name="Google Shape;637;p28"/>
          <p:cNvSpPr/>
          <p:nvPr/>
        </p:nvSpPr>
        <p:spPr>
          <a:xfrm>
            <a:off x="502920" y="4580000"/>
            <a:ext cx="82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Combined ARR: $57M  |  Combined entry: $68.75M  |  All cash, zero debt</a:t>
            </a:r>
            <a:endParaRPr/>
          </a:p>
        </p:txBody>
      </p:sp>
      <p:sp>
        <p:nvSpPr>
          <p:cNvPr id="638" name="Google Shape;638;p28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28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  <p:sp>
        <p:nvSpPr>
          <p:cNvPr id="640" name="Google Shape;640;p28"/>
          <p:cNvSpPr/>
          <p:nvPr/>
        </p:nvSpPr>
        <p:spPr>
          <a:xfrm>
            <a:off x="8400000" y="4940000"/>
            <a:ext cx="4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18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2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9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29"/>
          <p:cNvSpPr/>
          <p:nvPr/>
        </p:nvSpPr>
        <p:spPr>
          <a:xfrm>
            <a:off x="502920" y="1828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Fund Structure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9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29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9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29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9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9"/>
          <p:cNvSpPr/>
          <p:nvPr/>
        </p:nvSpPr>
        <p:spPr>
          <a:xfrm>
            <a:off x="502920" y="960120"/>
            <a:ext cx="3931920" cy="96012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29"/>
          <p:cNvSpPr/>
          <p:nvPr/>
        </p:nvSpPr>
        <p:spPr>
          <a:xfrm>
            <a:off x="502920" y="960120"/>
            <a:ext cx="45720" cy="9601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29"/>
          <p:cNvSpPr/>
          <p:nvPr/>
        </p:nvSpPr>
        <p:spPr>
          <a:xfrm>
            <a:off x="685800" y="10515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WATERFALL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9"/>
          <p:cNvSpPr/>
          <p:nvPr/>
        </p:nvSpPr>
        <p:spPr>
          <a:xfrm>
            <a:off x="685800" y="1234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1x then tiered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9"/>
          <p:cNvSpPr/>
          <p:nvPr/>
        </p:nvSpPr>
        <p:spPr>
          <a:xfrm>
            <a:off x="685800" y="15819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100% to LPs until 1x. Then 80/20 to 2x, 75/25 to 3x, 70/30 above.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9"/>
          <p:cNvSpPr/>
          <p:nvPr/>
        </p:nvSpPr>
        <p:spPr>
          <a:xfrm>
            <a:off x="4709160" y="960120"/>
            <a:ext cx="3931920" cy="96012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29"/>
          <p:cNvSpPr/>
          <p:nvPr/>
        </p:nvSpPr>
        <p:spPr>
          <a:xfrm>
            <a:off x="4709160" y="960120"/>
            <a:ext cx="45720" cy="9601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29"/>
          <p:cNvSpPr/>
          <p:nvPr/>
        </p:nvSpPr>
        <p:spPr>
          <a:xfrm>
            <a:off x="4892040" y="10515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PREFERRED RETURN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9"/>
          <p:cNvSpPr/>
          <p:nvPr/>
        </p:nvSpPr>
        <p:spPr>
          <a:xfrm>
            <a:off x="4892040" y="1234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10%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9"/>
          <p:cNvSpPr/>
          <p:nvPr/>
        </p:nvSpPr>
        <p:spPr>
          <a:xfrm>
            <a:off x="4892040" y="15819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Accrues on unreturned capital. LP eats first.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9"/>
          <p:cNvSpPr/>
          <p:nvPr/>
        </p:nvSpPr>
        <p:spPr>
          <a:xfrm>
            <a:off x="502920" y="2103120"/>
            <a:ext cx="3931920" cy="96012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29"/>
          <p:cNvSpPr/>
          <p:nvPr/>
        </p:nvSpPr>
        <p:spPr>
          <a:xfrm>
            <a:off x="502920" y="2103120"/>
            <a:ext cx="45720" cy="9601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29"/>
          <p:cNvSpPr/>
          <p:nvPr/>
        </p:nvSpPr>
        <p:spPr>
          <a:xfrm>
            <a:off x="685800" y="21945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FEES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9"/>
          <p:cNvSpPr/>
          <p:nvPr/>
        </p:nvSpPr>
        <p:spPr>
          <a:xfrm>
            <a:off x="685800" y="2377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2% Y1 only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9"/>
          <p:cNvSpPr/>
          <p:nvPr/>
        </p:nvSpPr>
        <p:spPr>
          <a:xfrm>
            <a:off x="685800" y="27249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2% of committed capital until 3 deals close. 0% after.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9"/>
          <p:cNvSpPr/>
          <p:nvPr/>
        </p:nvSpPr>
        <p:spPr>
          <a:xfrm>
            <a:off x="4709160" y="2103120"/>
            <a:ext cx="3931920" cy="96012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29"/>
          <p:cNvSpPr/>
          <p:nvPr/>
        </p:nvSpPr>
        <p:spPr>
          <a:xfrm>
            <a:off x="4709160" y="2103120"/>
            <a:ext cx="45720" cy="9601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29"/>
          <p:cNvSpPr/>
          <p:nvPr/>
        </p:nvSpPr>
        <p:spPr>
          <a:xfrm>
            <a:off x="4892040" y="21945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DISTRIBUTIONS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9"/>
          <p:cNvSpPr/>
          <p:nvPr/>
        </p:nvSpPr>
        <p:spPr>
          <a:xfrm>
            <a:off x="4892040" y="2377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Quarterly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9"/>
          <p:cNvSpPr/>
          <p:nvPr/>
        </p:nvSpPr>
        <p:spPr>
          <a:xfrm>
            <a:off x="4892040" y="27249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Every 90 days. Cash in your account.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9"/>
          <p:cNvSpPr/>
          <p:nvPr/>
        </p:nvSpPr>
        <p:spPr>
          <a:xfrm>
            <a:off x="502920" y="3246120"/>
            <a:ext cx="3931920" cy="96012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29"/>
          <p:cNvSpPr/>
          <p:nvPr/>
        </p:nvSpPr>
        <p:spPr>
          <a:xfrm>
            <a:off x="502920" y="3246120"/>
            <a:ext cx="45720" cy="9601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29"/>
          <p:cNvSpPr/>
          <p:nvPr/>
        </p:nvSpPr>
        <p:spPr>
          <a:xfrm>
            <a:off x="685800" y="33375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LEVERAGE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9"/>
          <p:cNvSpPr/>
          <p:nvPr/>
        </p:nvSpPr>
        <p:spPr>
          <a:xfrm>
            <a:off x="685800" y="3520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Zero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9"/>
          <p:cNvSpPr/>
          <p:nvPr/>
        </p:nvSpPr>
        <p:spPr>
          <a:xfrm>
            <a:off x="685800" y="38679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No debt. No subscription lines.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9"/>
          <p:cNvSpPr/>
          <p:nvPr/>
        </p:nvSpPr>
        <p:spPr>
          <a:xfrm>
            <a:off x="4709160" y="3246120"/>
            <a:ext cx="3931920" cy="96012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29"/>
          <p:cNvSpPr/>
          <p:nvPr/>
        </p:nvSpPr>
        <p:spPr>
          <a:xfrm>
            <a:off x="4709160" y="3246120"/>
            <a:ext cx="45720" cy="9601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29"/>
          <p:cNvSpPr/>
          <p:nvPr/>
        </p:nvSpPr>
        <p:spPr>
          <a:xfrm>
            <a:off x="4892040" y="33375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ENTITY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9"/>
          <p:cNvSpPr/>
          <p:nvPr/>
        </p:nvSpPr>
        <p:spPr>
          <a:xfrm>
            <a:off x="4892040" y="3520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Delaware LLC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9"/>
          <p:cNvSpPr/>
          <p:nvPr/>
        </p:nvSpPr>
        <p:spPr>
          <a:xfrm>
            <a:off x="4892040" y="38679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$5M minimum. ~30 LPs. 506(b).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30"/>
          <p:cNvSpPr/>
          <p:nvPr/>
        </p:nvSpPr>
        <p:spPr>
          <a:xfrm>
            <a:off x="502920" y="3200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Per-Acquisition Integration Ramp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0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0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0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30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0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20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0"/>
          <p:cNvSpPr/>
          <p:nvPr/>
        </p:nvSpPr>
        <p:spPr>
          <a:xfrm>
            <a:off x="502920" y="914400"/>
            <a:ext cx="2560320" cy="9144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30"/>
          <p:cNvSpPr/>
          <p:nvPr/>
        </p:nvSpPr>
        <p:spPr>
          <a:xfrm>
            <a:off x="502920" y="91440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30"/>
          <p:cNvSpPr/>
          <p:nvPr/>
        </p:nvSpPr>
        <p:spPr>
          <a:xfrm>
            <a:off x="640080" y="987552"/>
            <a:ext cx="2331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ENTRY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0"/>
          <p:cNvSpPr/>
          <p:nvPr/>
        </p:nvSpPr>
        <p:spPr>
          <a:xfrm>
            <a:off x="640080" y="1170432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-40%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0"/>
          <p:cNvSpPr/>
          <p:nvPr/>
        </p:nvSpPr>
        <p:spPr>
          <a:xfrm>
            <a:off x="640080" y="1481328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Inherited cost bloat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0"/>
          <p:cNvSpPr/>
          <p:nvPr/>
        </p:nvSpPr>
        <p:spPr>
          <a:xfrm>
            <a:off x="3246120" y="914400"/>
            <a:ext cx="2560320" cy="9144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30"/>
          <p:cNvSpPr/>
          <p:nvPr/>
        </p:nvSpPr>
        <p:spPr>
          <a:xfrm>
            <a:off x="3246120" y="91440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30"/>
          <p:cNvSpPr/>
          <p:nvPr/>
        </p:nvSpPr>
        <p:spPr>
          <a:xfrm>
            <a:off x="3383280" y="987552"/>
            <a:ext cx="2331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MONTH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0"/>
          <p:cNvSpPr/>
          <p:nvPr/>
        </p:nvSpPr>
        <p:spPr>
          <a:xfrm>
            <a:off x="3383280" y="1170432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Breakeven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0"/>
          <p:cNvSpPr/>
          <p:nvPr/>
        </p:nvSpPr>
        <p:spPr>
          <a:xfrm>
            <a:off x="3383280" y="1481328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AI infrastructure deployed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0"/>
          <p:cNvSpPr/>
          <p:nvPr/>
        </p:nvSpPr>
        <p:spPr>
          <a:xfrm>
            <a:off x="5989320" y="914400"/>
            <a:ext cx="2560320" cy="9144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0"/>
          <p:cNvSpPr/>
          <p:nvPr/>
        </p:nvSpPr>
        <p:spPr>
          <a:xfrm>
            <a:off x="5989320" y="91440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30"/>
          <p:cNvSpPr/>
          <p:nvPr/>
        </p:nvSpPr>
        <p:spPr>
          <a:xfrm>
            <a:off x="6126480" y="987552"/>
            <a:ext cx="2331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MONTH 12+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0"/>
          <p:cNvSpPr/>
          <p:nvPr/>
        </p:nvSpPr>
        <p:spPr>
          <a:xfrm>
            <a:off x="6126480" y="1170432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60%+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0"/>
          <p:cNvSpPr/>
          <p:nvPr/>
        </p:nvSpPr>
        <p:spPr>
          <a:xfrm>
            <a:off x="6126480" y="1481328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Steady state target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0"/>
          <p:cNvSpPr/>
          <p:nvPr/>
        </p:nvSpPr>
        <p:spPr>
          <a:xfrm>
            <a:off x="502920" y="205740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1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LPs receive 100% of operating margin. No bonus pool - all upside flows to investors.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0"/>
          <p:cNvSpPr/>
          <p:nvPr/>
        </p:nvSpPr>
        <p:spPr>
          <a:xfrm>
            <a:off x="502920" y="25146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1200"/>
              <a:buFont typeface="Libre Franklin"/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WHY 20 PEOPLE IS ENOUGH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0"/>
          <p:cNvSpPr/>
          <p:nvPr/>
        </p:nvSpPr>
        <p:spPr>
          <a:xfrm>
            <a:off x="502920" y="28346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F8F6F2"/>
                </a:solidFill>
                <a:latin typeface="DM Sans"/>
                <a:ea typeface="DM Sans"/>
                <a:cs typeface="DM Sans"/>
                <a:sym typeface="DM Sans"/>
              </a:rPr>
              <a:t>Product manager IS the account manager. Zero handoffs. Full context. AI handles the execution layer. 20 people do what 200 used 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0"/>
          <p:cNvSpPr/>
          <p:nvPr/>
        </p:nvSpPr>
        <p:spPr>
          <a:xfrm>
            <a:off x="502920" y="3383280"/>
            <a:ext cx="3840480" cy="77724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30"/>
          <p:cNvSpPr/>
          <p:nvPr/>
        </p:nvSpPr>
        <p:spPr>
          <a:xfrm>
            <a:off x="502920" y="3383280"/>
            <a:ext cx="45720" cy="77724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30"/>
          <p:cNvSpPr/>
          <p:nvPr/>
        </p:nvSpPr>
        <p:spPr>
          <a:xfrm>
            <a:off x="640080" y="3456432"/>
            <a:ext cx="3611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 PER EMPLOYEE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0"/>
          <p:cNvSpPr/>
          <p:nvPr/>
        </p:nvSpPr>
        <p:spPr>
          <a:xfrm>
            <a:off x="640080" y="3621024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$5M+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0"/>
          <p:cNvSpPr/>
          <p:nvPr/>
        </p:nvSpPr>
        <p:spPr>
          <a:xfrm>
            <a:off x="640080" y="3913632"/>
            <a:ext cx="3611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Fund I at steady state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0"/>
          <p:cNvSpPr/>
          <p:nvPr/>
        </p:nvSpPr>
        <p:spPr>
          <a:xfrm>
            <a:off x="4572000" y="3383280"/>
            <a:ext cx="4069080" cy="77724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30"/>
          <p:cNvSpPr/>
          <p:nvPr/>
        </p:nvSpPr>
        <p:spPr>
          <a:xfrm>
            <a:off x="4572000" y="3383280"/>
            <a:ext cx="45720" cy="77724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30"/>
          <p:cNvSpPr/>
          <p:nvPr/>
        </p:nvSpPr>
        <p:spPr>
          <a:xfrm>
            <a:off x="4709160" y="345643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AT SCALE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0"/>
          <p:cNvSpPr/>
          <p:nvPr/>
        </p:nvSpPr>
        <p:spPr>
          <a:xfrm>
            <a:off x="4709160" y="362102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$20M+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0"/>
          <p:cNvSpPr/>
          <p:nvPr/>
        </p:nvSpPr>
        <p:spPr>
          <a:xfrm>
            <a:off x="4709160" y="3913632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$1B+ revenue, ~50 people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