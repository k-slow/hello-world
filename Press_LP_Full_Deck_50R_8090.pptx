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84" r:id="rId47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5143500" cy="9144000"/>
  <p:embeddedFontLst>
    <p:embeddedFont>
      <p:font typeface="Libre Franklin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  <p:embeddedFont>
      <p:font typeface="IBM Plex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67">
          <p15:clr>
            <a:srgbClr val="747775"/>
          </p15:clr>
        </p15:guide>
        <p15:guide id="2" pos="97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6174C4-8489-49B3-8E89-77AB7ED8F414}">
  <a:tblStyle styleId="{2D6174C4-8489-49B3-8E89-77AB7ED8F4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67" orient="horz"/>
        <p:guide pos="973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font" Target="fonts/LibreFranklin-regular.fntdata"/><Relationship Id="rId36" Type="http://schemas.openxmlformats.org/officeDocument/2006/relationships/font" Target="fonts/LibreFranklin-bold.fntdata"/><Relationship Id="rId37" Type="http://schemas.openxmlformats.org/officeDocument/2006/relationships/font" Target="fonts/LibreFranklin-italic.fntdata"/><Relationship Id="rId38" Type="http://schemas.openxmlformats.org/officeDocument/2006/relationships/font" Target="fonts/LibreFranklin-boldItalic.fntdata"/><Relationship Id="rId39" Type="http://schemas.openxmlformats.org/officeDocument/2006/relationships/font" Target="fonts/DMSans-regular.fntdata"/><Relationship Id="rId40" Type="http://schemas.openxmlformats.org/officeDocument/2006/relationships/font" Target="fonts/DMSans-bold.fntdata"/><Relationship Id="rId41" Type="http://schemas.openxmlformats.org/officeDocument/2006/relationships/font" Target="fonts/DMSans-italic.fntdata"/><Relationship Id="rId42" Type="http://schemas.openxmlformats.org/officeDocument/2006/relationships/font" Target="fonts/DMSans-boldItalic.fntdata"/><Relationship Id="rId43" Type="http://schemas.openxmlformats.org/officeDocument/2006/relationships/font" Target="fonts/IBMPlexMono-regular.fntdata"/><Relationship Id="rId44" Type="http://schemas.openxmlformats.org/officeDocument/2006/relationships/font" Target="fonts/IBMPlexMono-bold.fntdata"/><Relationship Id="rId45" Type="http://schemas.openxmlformats.org/officeDocument/2006/relationships/font" Target="fonts/IBMPlexMono-italic.fntdata"/><Relationship Id="rId46" Type="http://schemas.openxmlformats.org/officeDocument/2006/relationships/font" Target="fonts/IBMPlexMono-boldItalic.fntdata"/><Relationship Id="rId4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7" name="Google Shape;68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2011680"/>
            <a:ext cx="731520" cy="7315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20116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71600" y="2011680"/>
            <a:ext cx="36576" cy="7315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545325" y="259580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CCBA"/>
              </a:buClr>
              <a:buSzPts val="1400"/>
              <a:buFont typeface="DM Sans"/>
              <a:buNone/>
            </a:pPr>
            <a:r>
              <a:rPr b="0" i="0" lang="en-US" sz="15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Durable Cash SaaS Fund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516967" y="190543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4400"/>
              <a:buFont typeface="Libre Franklin"/>
              <a:buNone/>
            </a:pPr>
            <a:r>
              <a:rPr b="1" i="0" lang="en-US" sz="5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2920" y="200000"/>
            <a:ext cx="700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Press. Why Now.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920000"/>
            <a:ext cx="4060000" cy="1865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920000"/>
            <a:ext cx="36000" cy="1865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2920" y="1020000"/>
            <a:ext cx="37800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Historic Entry Window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Software is selling at a discount and will continue to due to the various headwinds.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02920" y="2905000"/>
            <a:ext cx="4060000" cy="1865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2905000"/>
            <a:ext cx="36000" cy="1865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82920" y="3005000"/>
            <a:ext cx="37800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Operational Playbook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Lean team, world-class talent plus AI equals 60%+ net margins.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750000" y="920000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50000" y="920000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930000" y="1020000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Proven Operation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$325M revenue. $236M profit. 12 quarters of data. Not projections.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750000" y="2243333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750000" y="2243333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930000" y="2343333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25.9% net IRR, 3.50x DPI (Base, 10-year). Bear 17%, Bull 35%. Unlevered.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25.9% net IRR, 3.50x DPI (Base case, 10-year). Bear 17%, Bull 35%. Unlevered.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750000" y="3566666"/>
            <a:ext cx="4060000" cy="1203333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750000" y="3566666"/>
            <a:ext cx="36000" cy="1203333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930000" y="3666666"/>
            <a:ext cx="3780000" cy="1003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Risk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No leverage. No exit dependency. Quarterly distributions. Permanent equity.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Golden Age of Software Is 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02920" y="914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SaaS valuations dropped 75% from their all-time peak.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2920" y="3700000"/>
            <a:ext cx="82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The median PE fund bought software at 15-20x with 3-5x leverage during the golden age. Those structures no longer work. Debt instruments are maturing with no refinancing path. Thousands of companies are trapped -- too slow for a growth multiple, too bloated for a fortress multiple.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943600" y="914400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943600" y="91440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126480" y="102412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2021 PEAK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126480" y="12070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21x ARR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126480" y="159105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Median SaaS EV/Revenue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943600" y="1920250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943600" y="192024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26480" y="202996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 HEALTHY SAAS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126480" y="22128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5x ARR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126480" y="25968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Stalled companies trade at 0.5-1.5x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943600" y="2926075"/>
            <a:ext cx="2743200" cy="8916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943600" y="2926080"/>
            <a:ext cx="45720" cy="82296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126480" y="303580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FIRST TIME EVER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126480" y="321868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Discount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126480" y="360273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Software trades below S&amp;P 500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02920" y="465000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1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Sources: a16z, Meritech Capital, Bessemer, Goldman Sachs, Morgan Stanley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50000"/>
            <a:ext cx="5200000" cy="21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02920" y="54864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200"/>
              <a:buFont typeface="Libre Franklin"/>
              <a:buNone/>
            </a:pPr>
            <a: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"Only two paths to durable value:</a:t>
            </a:r>
            <a:b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2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accelerate growth to greater than 25%,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2200"/>
              <a:buFont typeface="Libre Franklin"/>
              <a:buNone/>
            </a:pPr>
            <a:r>
              <a:rPr b="1" i="0" lang="en-US" sz="2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or rebuild to 40%+ true margins.</a:t>
            </a:r>
            <a:r>
              <a:rPr b="1" i="0" lang="en-US" sz="22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2920" y="19202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-- David George, a16z,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02920" y="2377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"You're either Gucci or Walmart. </a:t>
            </a:r>
            <a:r>
              <a:rPr b="1" i="0" lang="en-US" sz="18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middle is dead.</a:t>
            </a:r>
            <a:r>
              <a:rPr b="1" i="0" lang="en-US" sz="1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02920" y="29260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-- Marc Andreessen a16z, February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a16z Barbell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02920" y="82296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7A7570"/>
                </a:solidFill>
                <a:latin typeface="IBM Plex Mono"/>
                <a:ea typeface="IBM Plex Mono"/>
                <a:cs typeface="IBM Plex Mono"/>
                <a:sym typeface="IBM Plex Mono"/>
              </a:rPr>
              <a:t>~30,000 SAAS COMPANIES WORLDWIDE  |  ~17,000 B2B  |  ~11,000 AT $10M+ ARR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" y="1143000"/>
            <a:ext cx="2194560" cy="210312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02920" y="1143000"/>
            <a:ext cx="4572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85800" y="1234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GROWTH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8580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&gt;25%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85800" y="192024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~800 companies growing &gt;25% YoY. These survive on innovation and speed.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880360" y="1143000"/>
            <a:ext cx="338328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063240" y="123444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0A0D14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MIDDLE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063240" y="1463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3200"/>
              <a:buFont typeface="Libre Franklin"/>
              <a:buNone/>
            </a:pPr>
            <a:r>
              <a:rPr b="1" i="0" lang="en-US" sz="3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~9,500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063290" y="1906585"/>
            <a:ext cx="3017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0A0D14"/>
                </a:solidFill>
                <a:latin typeface="DM Sans"/>
                <a:ea typeface="DM Sans"/>
                <a:cs typeface="DM Sans"/>
                <a:sym typeface="DM Sans"/>
              </a:rPr>
              <a:t>7,000 stuck in the death zone. 1,500 already stalled. Neither growing fast enough nor profitable enough to survive the repricing.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46520" y="1143000"/>
            <a:ext cx="2194560" cy="210312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46520" y="1143000"/>
            <a:ext cx="45720" cy="2103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629400" y="1234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MARGIN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629400" y="1463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&gt;40%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629400" y="19202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~500 companies at 40%+ true operating margin. The Broadcom / VMware model.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02920" y="352044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Press buys from the middle. Companies that can't grow their way out and haven't restructured. We acquire at 1.25x ARR, deploy the playbook, and convert them from cash-burning liabilities into durable cash assets.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02920" y="411480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1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Sources: a16z, Crunchbase, Carta, Pitchbook. B2B SaaS subset of ~30,000 global SaaS companies.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02920" y="548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02920" y="13500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buy B2B SaaS companies.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re-architect them with a lean, AI-native team focused on retention and profitability.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400"/>
              <a:buFont typeface="Libre Franklin"/>
              <a:buNone/>
            </a:pPr>
            <a:r>
              <a:rPr b="1" i="0" lang="en-US" sz="24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distribute the cash quarterly to investors starting year one.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02925" y="3300000"/>
            <a:ext cx="77724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 xml:space="preserve">A durable cash fund. Buy, fix, hold. </a:t>
            </a:r>
            <a:b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 xml:space="preserve"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0" y="32004"/>
            <a:ext cx="9144000" cy="600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2920" y="100000"/>
            <a:ext cx="7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Leadership Team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02920" y="450000"/>
            <a:ext cx="7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 spinout from Trilogy. Not a team being assembled.</a:t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8382000" y="16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502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02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62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Kathy Slowinski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CEO, Press Capital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3276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276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436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CFO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Two-time 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Fund ops + B2B SaaS background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050920" y="83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050920" y="83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210920" y="88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Two-time 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IR, fundraising + B2B SaaS background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502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02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62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3276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276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3436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050920" y="1500000"/>
            <a:ext cx="2590000" cy="520000"/>
          </a:xfrm>
          <a:prstGeom prst="rect">
            <a:avLst/>
          </a:prstGeom>
          <a:solidFill>
            <a:srgbClr val="EDEA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050920" y="1500000"/>
            <a:ext cx="36000" cy="5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210920" y="1550000"/>
            <a:ext cx="237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Trilogy spinout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3+ years with Kathy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02920" y="22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2920" y="22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00000" y="22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OPERATOR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successful CEO in Trilogy history for creating profit. 15 acquisitions integrated. $5M+ revenue per employee. 3 years of auditable P&amp;L.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02920" y="28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02920" y="28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00000" y="28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AI EDGE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Built the AI playbook that gained 15 points of margin (60% to 75%). 2 board seats including an $800M company. The playbook gets better every quarter.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502920" y="3450000"/>
            <a:ext cx="8138160" cy="48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02920" y="3450000"/>
            <a:ext cx="36000" cy="48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00000" y="3490000"/>
            <a:ext cx="7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THE SPINOUT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Not a team being assembled. CPO, CTO, COO are 3+ year operators from Trilogy. CFO and CIO bring two-time CEO experience with fundraising and B2B SaaS depth.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02920" y="18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Operating Playbook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02920" y="8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02920" y="8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72920" y="9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 SUPPORT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12-person team, $1.2M/yr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handles 80% of tickets. 2 humans. $200K/yr.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742920" y="8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742920" y="8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912920" y="9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4-person team, manual reporting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dashboards + forecasting. CFO on strategy only.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02920" y="170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502920" y="170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72920" y="177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LEGAL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Outside counsel, $50K/month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reviews contracts + flags risk. Counsel for closings only.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742920" y="170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42920" y="170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912920" y="177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Separate PM, AM, CS per account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PM is the AM and CS. Zero handoffs. Organization narrows. Customers are happier.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02920" y="25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02920" y="25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72920" y="26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ENGINEERING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30 engineers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5 engineers with 10 agents each. AI helps a world-class team move faster than a 50-person team.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742920" y="2550000"/>
            <a:ext cx="4100000" cy="75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742920" y="2550000"/>
            <a:ext cx="36000" cy="75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912920" y="2620000"/>
            <a:ext cx="3850000" cy="6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Before: Agency + 3 FTEs, $800K/yr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After: AI content + campaigns + analytics. 1 FTE.</a:t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502920" y="3500000"/>
            <a:ext cx="82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This is the operating playbook that gets you to 60%+ net profit margins.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02920" y="15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Proof Point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8382000" y="18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502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02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62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3-YEAR REVENUE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$325M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12 quarters of data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3276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276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436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3-YEAR NET PROFIT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$236M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73% avg net margin</a:t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050920" y="780000"/>
            <a:ext cx="2590000" cy="62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050920" y="780000"/>
            <a:ext cx="36000" cy="62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210920" y="840000"/>
            <a:ext cx="237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$5M rev per person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502920" y="1800000"/>
            <a:ext cx="1500000" cy="34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0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FY23 (Q2-Q4)</a:t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37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FY24</a:t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54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FY25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7102920" y="1800000"/>
            <a:ext cx="1700000" cy="340000"/>
          </a:xfrm>
          <a:prstGeom prst="rect">
            <a:avLst/>
          </a:prstGeom>
          <a:solidFill>
            <a:srgbClr val="BE8A4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Q1 FY26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02920" y="21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Revenue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20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$75M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37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$115M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54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$110M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7102920" y="21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$25M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502920" y="24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Profit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20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$57M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37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$80M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54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$80M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7102920" y="2440000"/>
            <a:ext cx="1700000" cy="300000"/>
          </a:xfrm>
          <a:prstGeom prst="rect">
            <a:avLst/>
          </a:prstGeom>
          <a:solidFill>
            <a:srgbClr val="1A1F2E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$19M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502920" y="2740000"/>
            <a:ext cx="1500000" cy="300000"/>
          </a:xfrm>
          <a:prstGeom prst="rect">
            <a:avLst/>
          </a:prstGeom>
          <a:solidFill>
            <a:srgbClr val="1D2233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Margin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20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76%</a:t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37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70%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4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72.5%</a:t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7102920" y="2740000"/>
            <a:ext cx="1700000" cy="300000"/>
          </a:xfrm>
          <a:prstGeom prst="rect">
            <a:avLst/>
          </a:prstGeom>
          <a:solidFill>
            <a:srgbClr val="131722"/>
          </a:solidFill>
          <a:ln cap="flat" cmpd="sng" w="9525">
            <a:solidFill>
              <a:srgbClr val="0A0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000" lIns="72000" spcFirstLastPara="1" rIns="72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75%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502920" y="3240000"/>
            <a:ext cx="82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Revenue shrank. Profit grew. Margins expanded. Same team.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This is not a projection. It is a real, running operation producing durable cash. *Several acquisitions took place in FY24.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at a Glance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0292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0292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8580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FUND SIZE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68580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$150M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265176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265176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283464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 IRR (10Y)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283464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25.9%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80060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80060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498348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 DPI (10Y)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98348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3.50x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949440" y="96012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949440" y="96012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7132320" y="105156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CASH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132320" y="12344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Durable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0292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0292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8580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PAYBACK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8580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265176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265176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283464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PEAK COC YIELD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283464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4.53x (15Y)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480060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80060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98348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LEVERAGE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98348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949440" y="2194560"/>
            <a:ext cx="1965960" cy="9144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949440" y="219456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7132320" y="22860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 RANGE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7132320" y="24688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80 / 90 / 100%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02920" y="33832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300"/>
              <a:buFont typeface="Libre Franklin"/>
              <a:buNone/>
            </a:pPr>
            <a:r>
              <a:rPr b="1" i="0" lang="en-US" sz="13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Every dollar of return is real cash in your account. Every quarter.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Returns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3"/>
          <p:cNvGraphicFramePr/>
          <p:nvPr/>
        </p:nvGraphicFramePr>
        <p:xfrm>
          <a:off x="5029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1463050"/>
                <a:gridCol w="1280150"/>
                <a:gridCol w="1371600"/>
                <a:gridCol w="12801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Bear (80% NDR)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Base (90% NDR)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Bull (100% NDR)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IRR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17%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26%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35%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DPI (10Y)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2.19x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3.50x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5.43x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DPI (15Y)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2.44x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4.53x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7.55x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Net IRR (15Y)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17%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27%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36%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233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CCBA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D8CCB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LP Cash (15Y)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6F2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F8F6F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$366M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$679M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E8A42"/>
                        </a:buClr>
                        <a:buSzPts val="1100"/>
                        <a:buFont typeface="IBM Plex Mono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E8A42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$1132M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304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722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13"/>
          <p:cNvSpPr/>
          <p:nvPr/>
        </p:nvSpPr>
        <p:spPr>
          <a:xfrm>
            <a:off x="502920" y="32918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1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The model: 50% recycle, $150M, unlevered. Base 90% NDR (price-led, Yr1-6) reverting to 85% decay from Yr7.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4919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-- DO NOT DISTRIBUTE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Fund I Returns: Bear / Base / Bull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1828800" cy="36576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Bear (80%)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822960"/>
            <a:ext cx="1828800" cy="36576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(90%)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822960"/>
            <a:ext cx="1828800" cy="365760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0" y="822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D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Bull (100%)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1280160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1280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IRR (10Y)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9184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16.6%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1208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25.9%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1280160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34.7%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1627632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16276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DPI (10Y)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9184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2.19x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3.50x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0" y="1627632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13232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5.43x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1975104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19751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 DPI (15Y)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29184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2.44x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1208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1208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4.53x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32320" y="1975104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132320" y="1975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7.55x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2322576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02920" y="2322576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Payback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29184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 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21208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21208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 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32320" y="2322576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132320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 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" y="2670048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02920" y="2670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 Cash (10Y)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9184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29184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$329M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21208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21208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$525M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132320" y="2670048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13232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$814M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3017520"/>
            <a:ext cx="269748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02920" y="3017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 Cash (15Y)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9184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29184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$366M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21208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21208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$679M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0" y="3017520"/>
            <a:ext cx="1828800" cy="347472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13232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$1132M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02920" y="3364992"/>
            <a:ext cx="269748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02920" y="3364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Companies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9184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29184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21208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21208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132320" y="3364992"/>
            <a:ext cx="1828800" cy="347472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13232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0292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model. Bear/Base/Bull = 80/90/100% NDR (price-led Yr1-6), reverting to 85% decay. ~8 companies, self-funded recycling, no incremental capital calls.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01000" y="219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18288"/>
          </a:xfrm>
          <a:prstGeom prst="rect">
            <a:avLst/>
          </a:prstGeom>
          <a:solidFill>
            <a:srgbClr val="BE8A4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4919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CC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-- DO NOT DISTRIBUTE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50% Recycle: 10-Year vs 15-Year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= 50% recycle. Returns across the NDR band (Bear 80 / Base 90 / Bull 100). Net of fees &amp; carry.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 -  10-YEAR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9164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6052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IRR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29400" y="111556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115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/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1115568"/>
            <a:ext cx="109728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NDR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138988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69164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2.19x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16052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16.6%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138988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2940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1664208"/>
            <a:ext cx="109728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02920" y="1664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9164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2.79x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6052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16052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21.4%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166420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294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9164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69164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3.50x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6052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16052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25.9%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29400" y="19385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629400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2212848"/>
            <a:ext cx="109728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0292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9164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69164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4.37x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6052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16052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30.3%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29400" y="221284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62940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" y="248716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0292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69164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69164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5.43x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16052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16052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34.7%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629400" y="24871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62940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 -  15-YEAR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69164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69164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DPI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6052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16052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IRR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629400" y="3035808"/>
            <a:ext cx="237744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62940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/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02920" y="3035808"/>
            <a:ext cx="1097280" cy="274320"/>
          </a:xfrm>
          <a:prstGeom prst="rect">
            <a:avLst/>
          </a:prstGeom>
          <a:solidFill>
            <a:srgbClr val="131722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0292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8A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NDR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02920" y="331012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02920" y="3310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69164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169164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2.44x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16052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16052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17.4%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29400" y="331012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62940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02920" y="3584448"/>
            <a:ext cx="109728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50292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69164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169164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3.47x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16052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416052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22.7%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629400" y="3584448"/>
            <a:ext cx="2377440" cy="274320"/>
          </a:xfrm>
          <a:prstGeom prst="rect">
            <a:avLst/>
          </a:prstGeom>
          <a:solidFill>
            <a:srgbClr val="1A1D28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66294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8A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02920" y="385876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0292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90%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69164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169164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4.53x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16052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416052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27.1%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629400" y="385876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662940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02920" y="4133088"/>
            <a:ext cx="109728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50292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95%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69164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169164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5.87x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16052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416052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31.5%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629400" y="4133088"/>
            <a:ext cx="2377440" cy="274320"/>
          </a:xfrm>
          <a:prstGeom prst="rect">
            <a:avLst/>
          </a:prstGeom>
          <a:solidFill>
            <a:srgbClr val="0A0D14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6629400" y="4133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02920" y="4407408"/>
            <a:ext cx="109728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502920" y="4407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69164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169164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7.55x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16052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416052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35.9%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6629400" y="4407408"/>
            <a:ext cx="2377440" cy="274320"/>
          </a:xfrm>
          <a:prstGeom prst="rect">
            <a:avLst/>
          </a:prstGeom>
          <a:solidFill>
            <a:srgbClr val="131722"/>
          </a:solidFill>
          <a:ln w="6350">
            <a:solidFill>
              <a:srgbClr val="2A2E3A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662940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502920" y="46817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recycle model. Base case = 90% NDR. Price-led NDR (Yr1-6) reverts to 85% gross-retention decay.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00000" y="18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 vs The Industry</a:t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400000" y="850000"/>
            <a:ext cx="1600000" cy="400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2060000" y="850000"/>
            <a:ext cx="1700000" cy="400000"/>
          </a:xfrm>
          <a:prstGeom prst="rect">
            <a:avLst/>
          </a:prstGeom>
          <a:solidFill>
            <a:srgbClr val="1D2233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Top Decile</a:t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3820000" y="850000"/>
            <a:ext cx="1700000" cy="400000"/>
          </a:xfrm>
          <a:prstGeom prst="rect">
            <a:avLst/>
          </a:prstGeom>
          <a:solidFill>
            <a:srgbClr val="1D2233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VC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i="0" lang="en-US" sz="1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Top Decile</a:t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5580000" y="850000"/>
            <a:ext cx="25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30000" lIns="60000" spcFirstLastPara="1" rIns="60000" wrap="square" tIns="3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PRESS</a:t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400000" y="125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Net IRR</a:t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2060000" y="125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25-30%</a:t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3820000" y="125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30-40%</a:t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5580000" y="125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25.9%</a:t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5580000" y="125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00000" y="159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DPI</a:t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2060000" y="159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1.8-2.2x</a:t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3820000" y="159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1.5-2.5x</a:t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5580000" y="159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3.50x</a:t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5580000" y="159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400000" y="193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Time to cash</a:t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2060000" y="193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4-6 years</a:t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3820000" y="193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3-5 years</a:t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5580000" y="193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1</a:t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5580000" y="193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400000" y="227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Time to payback</a:t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2060000" y="227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4-6 years</a:t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3820000" y="227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5-7 years</a:t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5580000" y="227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4</a:t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5580000" y="227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400000" y="261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Return type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2060000" y="261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Paper markups</a:t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3820000" y="261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Paper markups</a:t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5580000" y="261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Realized cash</a:t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5580000" y="261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400000" y="2950000"/>
            <a:ext cx="16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Exit dependency</a:t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2060000" y="295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M&amp;A required</a:t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3820000" y="2950000"/>
            <a:ext cx="1700000" cy="34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IPO / M&amp;A</a:t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5580000" y="295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None</a:t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5580000" y="295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00000" y="3290000"/>
            <a:ext cx="16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Fund life</a:t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2060000" y="329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10-12 years</a:t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3820000" y="3290000"/>
            <a:ext cx="1700000" cy="340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txBody>
          <a:bodyPr anchorCtr="0" anchor="ctr" bIns="20000" lIns="60000" spcFirstLastPara="1" rIns="6000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10-12 years</a:t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5580000" y="3290000"/>
            <a:ext cx="2500000" cy="340000"/>
          </a:xfrm>
          <a:prstGeom prst="rect">
            <a:avLst/>
          </a:prstGeom>
          <a:solidFill>
            <a:srgbClr val="1A1510"/>
          </a:solidFill>
          <a:ln>
            <a:noFill/>
          </a:ln>
        </p:spPr>
        <p:txBody>
          <a:bodyPr anchorCtr="0" anchor="ctr" bIns="20000" lIns="8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Permanent</a:t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5580000" y="3290000"/>
            <a:ext cx="30000" cy="34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02920" y="91440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leverage.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502920" y="16916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exit dependency.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502920" y="2468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lockup.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502920" y="32461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3600"/>
              <a:buFont typeface="Libre Franklin"/>
              <a:buNone/>
            </a:pPr>
            <a:r>
              <a:rPr b="1" i="0" lang="en-US" sz="36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Durable cash.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02920" y="41148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Every dollar of return is real cash in your account. Every quarter.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8F6F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Deployment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3" name="Google Shape;413;p17"/>
          <p:cNvGraphicFramePr/>
          <p:nvPr/>
        </p:nvGraphicFramePr>
        <p:xfrm>
          <a:off x="5029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1097275"/>
                <a:gridCol w="5486400"/>
                <a:gridCol w="10972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Month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Milestone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Team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9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M1-3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CEO + CFO. Deal hunting. Pipeline building.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M3-4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CTO, CPO, COO join. 6 direct reports at $200K.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11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M4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1 closes. ~$24M ARR.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11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M7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2 closes. CRO + 3 at $200K.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15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M10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3 closes. 4 at $100K.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19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M12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4 closes. 2 at $100K.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19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M14-16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Deal 5 closes. 2 at $100K. Full team.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20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4" name="Google Shape;414;p17"/>
          <p:cNvSpPr/>
          <p:nvPr/>
        </p:nvSpPr>
        <p:spPr>
          <a:xfrm>
            <a:off x="502920" y="384048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Team never ahead of revenue. Every hire justified by a closed acquisition.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Appendix</a:t>
            </a:r>
            <a:endParaRPr/>
          </a:p>
        </p:txBody>
      </p:sp>
      <p:sp>
        <p:nvSpPr>
          <p:cNvPr id="421" name="Google Shape;421;p18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502920" y="2000000"/>
            <a:ext cx="8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Supporting materials for diligence conversations.</a:t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Fee Alignment</a:t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502920" y="900000"/>
            <a:ext cx="395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502920" y="9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682920" y="980000"/>
            <a:ext cx="367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TRADITIONAL GP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2% of $150M for 10 years. Industry standard.</a:t>
            </a:r>
            <a:endParaRPr/>
          </a:p>
        </p:txBody>
      </p:sp>
      <p:sp>
        <p:nvSpPr>
          <p:cNvPr id="435" name="Google Shape;435;p19"/>
          <p:cNvSpPr/>
          <p:nvPr/>
        </p:nvSpPr>
        <p:spPr>
          <a:xfrm>
            <a:off x="4650000" y="900000"/>
            <a:ext cx="395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4650000" y="9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4830000" y="980000"/>
            <a:ext cx="367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$3M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2% of $150M until 3 deals close. 0% after that. Ever.</a:t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502920" y="2000000"/>
            <a:ext cx="8100000" cy="9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502920" y="2000000"/>
            <a:ext cx="36000" cy="9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682920" y="2080000"/>
            <a:ext cx="7820000" cy="7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LP SAVINGS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$27M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Returned to LPs as distributions, not extracted as fees. The fee structure is the alignment -- not a GP check.</a:t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502920" y="3150000"/>
            <a:ext cx="81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GPs charge 2% for a decade regardless of performance. Press charges 2% only during deployment, then runs operations from the gross-to-net margin delta. Press makes money when LPs make money.</a:t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Key-Person Provision</a:t>
            </a:r>
            <a:endParaRPr/>
          </a:p>
        </p:txBody>
      </p:sp>
      <p:sp>
        <p:nvSpPr>
          <p:cNvPr id="450" name="Google Shape;450;p20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51" name="Google Shape;451;p20"/>
          <p:cNvSpPr/>
          <p:nvPr/>
        </p:nvSpPr>
        <p:spPr>
          <a:xfrm>
            <a:off x="502920" y="900000"/>
            <a:ext cx="81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If the CEO is unable to continue, the key-person provision pauses new acquisitions. Existing portfolio companies continue operating under the C-suite and distributing cash to LPs.</a:t>
            </a:r>
            <a:endParaRPr/>
          </a:p>
        </p:txBody>
      </p:sp>
      <p:sp>
        <p:nvSpPr>
          <p:cNvPr id="452" name="Google Shape;452;p20"/>
          <p:cNvSpPr/>
          <p:nvPr/>
        </p:nvSpPr>
        <p:spPr>
          <a:xfrm>
            <a:off x="502920" y="1600000"/>
            <a:ext cx="3950000" cy="10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502920" y="1600000"/>
            <a:ext cx="36000" cy="10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682920" y="1680000"/>
            <a:ext cx="367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Succession Path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Groomed for CEO role. Owns the integration playbook, HR, legal, and due diligence. Runs every post-close transition.</a:t>
            </a:r>
            <a:endParaRPr/>
          </a:p>
        </p:txBody>
      </p:sp>
      <p:sp>
        <p:nvSpPr>
          <p:cNvPr id="455" name="Google Shape;455;p20"/>
          <p:cNvSpPr/>
          <p:nvPr/>
        </p:nvSpPr>
        <p:spPr>
          <a:xfrm>
            <a:off x="4650000" y="1600000"/>
            <a:ext cx="3950000" cy="10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4650000" y="1600000"/>
            <a:ext cx="36000" cy="10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830000" y="1680000"/>
            <a:ext cx="3670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Succession Path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Groomed for CEO role. Owns customer retention, product stickiness, and the PM team. Closest to the revenue.</a:t>
            </a:r>
            <a:endParaRPr/>
          </a:p>
        </p:txBody>
      </p:sp>
      <p:sp>
        <p:nvSpPr>
          <p:cNvPr id="458" name="Google Shape;458;p20"/>
          <p:cNvSpPr/>
          <p:nvPr/>
        </p:nvSpPr>
        <p:spPr>
          <a:xfrm>
            <a:off x="502920" y="2900000"/>
            <a:ext cx="81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The operating model does not depend on the CEO being operational. The CEO is the Visionary. The C-suite runs day-to-day. AI infrastructure runs dashboards, reporting, and triage without human compilation. Two designated successors ensure continuity.</a:t>
            </a:r>
            <a:endParaRPr/>
          </a:p>
        </p:txBody>
      </p:sp>
      <p:sp>
        <p:nvSpPr>
          <p:cNvPr id="459" name="Google Shape;459;p20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NDR Holds Through Transition</a:t>
            </a: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502920" y="8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502920" y="8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700000" y="9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GROWTH HEADCOUNT REMOVED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Most SaaS companies are structured for growth. The bulk of headcount is growth-related. We retain only retention-related staff through the first 18 months, then transition to the OpCo team.</a:t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502920" y="15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502920" y="15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700000" y="16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PM = ACCOUNT MANAGER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Product managers own customer relationships at the product level. Deeper knowledge, zero handoffs, better service. AI is not only flattening organizations -- it is narrowing them.</a:t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502920" y="22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502920" y="22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700000" y="23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ANNUAL CONTRACTS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Existing contracts provide 12-month runway. Customers experience continuity of service while the cost structure transforms underneath.</a:t>
            </a:r>
            <a:endParaRPr/>
          </a:p>
        </p:txBody>
      </p:sp>
      <p:sp>
        <p:nvSpPr>
          <p:cNvPr id="477" name="Google Shape;477;p21"/>
          <p:cNvSpPr/>
          <p:nvPr/>
        </p:nvSpPr>
        <p:spPr>
          <a:xfrm>
            <a:off x="502920" y="29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502920" y="29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700000" y="30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MODELED FOR SHRINKAGE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NDR band: Bear 80% / Base 90% / Bull 100% for the 6-year value window (price-led), then 85% gross-retention decay. Growth engine off; net revenue from price + efficient upsell.</a:t>
            </a:r>
            <a:endParaRPr/>
          </a:p>
        </p:txBody>
      </p:sp>
      <p:sp>
        <p:nvSpPr>
          <p:cNvPr id="480" name="Google Shape;480;p21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2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Tax Treatment</a:t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489" name="Google Shape;489;p22"/>
          <p:cNvSpPr/>
          <p:nvPr/>
        </p:nvSpPr>
        <p:spPr>
          <a:xfrm>
            <a:off x="502920" y="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2"/>
          <p:cNvSpPr/>
          <p:nvPr/>
        </p:nvSpPr>
        <p:spPr>
          <a:xfrm>
            <a:off x="502920" y="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700000" y="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K-1 PASS-THROUGH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All entities are pass-through. Zero entity-level tax at any layer. LPs receive K-1s quarterly and are taxed at their individual rates.</a:t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502920" y="1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502920" y="1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700000" y="1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QBI DEDUCTION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Section 199A potentially reduces the federal rate from 37% to ~29.6% on eligible income. Single largest tax benefit in the Fund I structure.</a:t>
            </a:r>
            <a:endParaRPr/>
          </a:p>
        </p:txBody>
      </p:sp>
      <p:sp>
        <p:nvSpPr>
          <p:cNvPr id="495" name="Google Shape;495;p22"/>
          <p:cNvSpPr/>
          <p:nvPr/>
        </p:nvSpPr>
        <p:spPr>
          <a:xfrm>
            <a:off x="502920" y="2900000"/>
            <a:ext cx="8138160" cy="8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02920" y="2900000"/>
            <a:ext cx="36000" cy="8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700000" y="2980000"/>
            <a:ext cx="7800000" cy="6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 xml:space="preserve">CARRIED INTEREST   </a:t>
            </a:r>
            <a:r>
              <a:rPr b="0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Carry held more than 3 years receives long-term capital gains treatment (20% federal + 3.8% NIIT = 23.8%) instead of ordinary income rates.</a:t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3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First 90 Days Post-Close</a:t>
            </a:r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507" name="Google Shape;507;p23"/>
          <p:cNvSpPr/>
          <p:nvPr/>
        </p:nvSpPr>
        <p:spPr>
          <a:xfrm>
            <a:off x="502920" y="8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502920" y="8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700000" y="9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 1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Announce close to company and customers. Set up meetings with the most important customers. Identify the ~50% of team retained past Day 1 (mapped during diligence).</a:t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502920" y="15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502920" y="15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700000" y="16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1-30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Part ways with 33-50% of staff depending on org structure. Begin high-knowledge transitions: account management, product management, engineering, SaaS ops. Issue vendor nonrenewals for overlapping or low-value contracts.</a:t>
            </a:r>
            <a:endParaRPr/>
          </a:p>
        </p:txBody>
      </p:sp>
      <p:sp>
        <p:nvSpPr>
          <p:cNvPr id="513" name="Google Shape;513;p23"/>
          <p:cNvSpPr/>
          <p:nvPr/>
        </p:nvSpPr>
        <p:spPr>
          <a:xfrm>
            <a:off x="502920" y="22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502920" y="22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700000" y="23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30-60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Transition to Press vendor stack. Deploy AI infrastructure. Product roadmap issued to existing customer base. Shut down all unnecessary spend. Remaining transition staff completing knowledge transfer.</a:t>
            </a:r>
            <a:endParaRPr/>
          </a:p>
        </p:txBody>
      </p:sp>
      <p:sp>
        <p:nvSpPr>
          <p:cNvPr id="516" name="Google Shape;516;p23"/>
          <p:cNvSpPr/>
          <p:nvPr/>
        </p:nvSpPr>
        <p:spPr>
          <a:xfrm>
            <a:off x="502920" y="2950000"/>
            <a:ext cx="8138160" cy="6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502920" y="2950000"/>
            <a:ext cx="36000" cy="6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700000" y="30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 xml:space="preserve">DAYS 60-90   </a:t>
            </a:r>
            <a:r>
              <a:rPr b="0" i="0" lang="en-US" sz="10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 xml:space="preserve">AI fully operational on support triage, finance, legal review, marketing. Remaining transition staff offboarded. OpCo team running. </a:t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502920" y="37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502920" y="18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Capital Call Mechanics</a:t>
            </a:r>
            <a:endParaRPr/>
          </a:p>
        </p:txBody>
      </p:sp>
      <p:sp>
        <p:nvSpPr>
          <p:cNvPr id="528" name="Google Shape;528;p24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529" name="Google Shape;529;p24"/>
          <p:cNvSpPr/>
          <p:nvPr/>
        </p:nvSpPr>
        <p:spPr>
          <a:xfrm>
            <a:off x="502920" y="9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502920" y="9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682920" y="9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CALL TIMING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 Deal Close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Capital called pro rata on each acquisition close. No blind pool. You know exactly what you are buying before capital moves.</a:t>
            </a:r>
            <a:endParaRPr/>
          </a:p>
        </p:txBody>
      </p:sp>
      <p:sp>
        <p:nvSpPr>
          <p:cNvPr id="532" name="Google Shape;532;p24"/>
          <p:cNvSpPr/>
          <p:nvPr/>
        </p:nvSpPr>
        <p:spPr>
          <a:xfrm>
            <a:off x="4652920" y="9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4"/>
          <p:cNvSpPr/>
          <p:nvPr/>
        </p:nvSpPr>
        <p:spPr>
          <a:xfrm>
            <a:off x="4652920" y="9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4832920" y="9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CALLABLE RESERVE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100% of committed capital deployed into acquisitions. Base case includes 50% recycling during the first ~2 years post-deployment.</a:t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502920" y="25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502920" y="25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4"/>
          <p:cNvSpPr/>
          <p:nvPr/>
        </p:nvSpPr>
        <p:spPr>
          <a:xfrm>
            <a:off x="682920" y="25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DEPLOYMENT PACE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~16 Months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5 deals. First close ~Month 4. Last close ~Month 16. Fully deployed by end of Year 2.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4652920" y="2500000"/>
            <a:ext cx="3950000" cy="14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4652920" y="2500000"/>
            <a:ext cx="36000" cy="1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4"/>
          <p:cNvSpPr/>
          <p:nvPr/>
        </p:nvSpPr>
        <p:spPr>
          <a:xfrm>
            <a:off x="4832920" y="2580000"/>
            <a:ext cx="3670000" cy="1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DISTRIBUTIONS BEGIN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Year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Quarterly distributions start as soon as portfolio companies generate positive cash flow post-integration.</a:t>
            </a: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Your $25M Investment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3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3A3530"/>
                </a:solidFill>
                <a:latin typeface="DM Sans"/>
                <a:ea typeface="DM Sans"/>
                <a:cs typeface="DM Sans"/>
                <a:sym typeface="DM Sans"/>
              </a:rPr>
              <a:t>Permanent equity. You write one check. You receive a deposit every 90 days. By Year 4, you have your money back. Everything after that is durable cash for as long as these companies operate.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7" name="Google Shape;557;p25"/>
          <p:cNvGraphicFramePr/>
          <p:nvPr/>
        </p:nvGraphicFramePr>
        <p:xfrm>
          <a:off x="5029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{2D6174C4-8489-49B3-8E89-77AB7ED8F414}</a:tableStyleId>
              </a:tblPr>
              <a:tblGrid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  <a:gridCol w="7315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Y1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Y2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Y3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Y4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Y5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Y6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Y7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Y8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Y9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000"/>
                        <a:buFont typeface="IBM Plex Mono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Y10</a:t>
                      </a:r>
                      <a:endParaRPr sz="10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9A5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E8A4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Called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Cash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$12.5M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$11.5M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$11M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$10M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$22.5M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$34M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$45M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$55.5M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$66M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$76.5M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$87M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DPI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0.40x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0.89x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1.36x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1.80x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2.23x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2.65x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3.06x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3.47x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E0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530"/>
                        </a:buClr>
                        <a:buSzPts val="1100"/>
                        <a:buFont typeface="DM Sans"/>
                        <a:buNone/>
                      </a:pPr>
                      <a:r>
                        <a:rPr lang="en-US" sz="1100" u="none" cap="none" strike="noStrike">
                          <a:solidFill>
                            <a:srgbClr val="3A353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Yield</a:t>
                      </a:r>
                      <a:endParaRPr sz="11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--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50%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46%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44%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43%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42%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0D14"/>
                        </a:buClr>
                        <a:buSzPts val="1100"/>
                        <a:buFont typeface="IBM Plex Mono"/>
                        <a:buNone/>
                      </a:pPr>
                      <a:r>
                        <a:rPr lang="en-US" sz="1100" u="none" cap="none" strike="noStrike">
                          <a:solidFill>
                            <a:srgbClr val="0A0D14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41%</a:t>
                      </a:r>
                      <a:endParaRPr sz="11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63500" marB="63500" marR="101600" marL="1016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4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8" name="Google Shape;558;p25"/>
          <p:cNvSpPr/>
          <p:nvPr/>
        </p:nvSpPr>
        <p:spPr>
          <a:xfrm>
            <a:off x="502920" y="38404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900"/>
              <a:buFont typeface="DM Sans"/>
              <a:buNone/>
            </a:pPr>
            <a:r>
              <a:rPr b="0" i="0" lang="en-US" sz="9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Permanent equity. K-1 annually. Pass-through. No entity-level tax. This is not a 10-year fund -- it is durable cash for as long as the portfolio operates.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Deal Sourcing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502920" y="9144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CATEGORIES OF MOTIVATED SELLERS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502920" y="1280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1. VC-backed companies running out of runway.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502920" y="16002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2. PE-backed companies with leverage that no longer works.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502920" y="19202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3. Debt-equity situations where lenders took over companies they don't want to run.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/>
          <p:nvPr/>
        </p:nvSpPr>
        <p:spPr>
          <a:xfrm>
            <a:off x="502920" y="256032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900"/>
              <a:buFont typeface="IBM Plex Mono"/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SOURCING INFRASTRUCTURE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6"/>
          <p:cNvSpPr/>
          <p:nvPr/>
        </p:nvSpPr>
        <p:spPr>
          <a:xfrm>
            <a:off x="502920" y="28803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175+ relationships across sell-side M&amp;A advisory, venture debt lenders, PE portfolio exits, and secondary market platforms. Direct relationships with technology lending teams at multiple banks.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I Buy Box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50292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50292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68580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68580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$20-60M ARR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68580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B2B SaaS, enterprise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333756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333756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352044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CONTRACTS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/>
          <p:nvPr/>
        </p:nvSpPr>
        <p:spPr>
          <a:xfrm>
            <a:off x="352044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Annual+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352044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No monthly. Sticky.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/>
          <p:nvPr/>
        </p:nvSpPr>
        <p:spPr>
          <a:xfrm>
            <a:off x="6172200" y="96012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6172200" y="96012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6355080" y="105156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STICKINESS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/>
          <p:nvPr/>
        </p:nvSpPr>
        <p:spPr>
          <a:xfrm>
            <a:off x="635508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Workflow /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7"/>
          <p:cNvSpPr/>
          <p:nvPr/>
        </p:nvSpPr>
        <p:spPr>
          <a:xfrm>
            <a:off x="635508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Multi-dept, daily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50292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50292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7"/>
          <p:cNvSpPr/>
          <p:nvPr/>
        </p:nvSpPr>
        <p:spPr>
          <a:xfrm>
            <a:off x="68580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68580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1.25x ARR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68580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All cash, zero debt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333756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333756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352044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SELLER 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352044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 / VC / Founder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352044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Stalled or motivated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6172200" y="2240280"/>
            <a:ext cx="2651760" cy="1005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6172200" y="2240280"/>
            <a:ext cx="45720" cy="10058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6355080" y="2331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POST-CLOSE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6355080" y="2514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Full replacement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6355080" y="2880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Our team from Day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502920" y="3566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900"/>
              <a:buFont typeface="DM Sans"/>
              <a:buNone/>
            </a:pPr>
            <a:r>
              <a:rPr b="0" i="1" lang="en-US" sz="9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Targets: Series B/C VC failures, overleveraged PE roll-ups, bootstrapped founder exits. Minimal customer success overhead. Regulatory or compliance verticals preferred.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8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502920" y="220000"/>
            <a:ext cx="70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Deal Pipeline</a:t>
            </a:r>
            <a:endParaRPr/>
          </a:p>
        </p:txBody>
      </p:sp>
      <p:sp>
        <p:nvSpPr>
          <p:cNvPr id="627" name="Google Shape;627;p28"/>
          <p:cNvSpPr/>
          <p:nvPr/>
        </p:nvSpPr>
        <p:spPr>
          <a:xfrm>
            <a:off x="8382000" y="220000"/>
            <a:ext cx="400000" cy="4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/>
          </a:p>
        </p:txBody>
      </p:sp>
      <p:sp>
        <p:nvSpPr>
          <p:cNvPr id="628" name="Google Shape;628;p28"/>
          <p:cNvSpPr/>
          <p:nvPr/>
        </p:nvSpPr>
        <p:spPr>
          <a:xfrm>
            <a:off x="50292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50292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680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HR Tech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91%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-21%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$25M</a:t>
            </a:r>
            <a:endParaRPr/>
          </a:p>
        </p:txBody>
      </p:sp>
      <p:sp>
        <p:nvSpPr>
          <p:cNvPr id="631" name="Google Shape;631;p28"/>
          <p:cNvSpPr/>
          <p:nvPr/>
        </p:nvSpPr>
        <p:spPr>
          <a:xfrm>
            <a:off x="327700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327700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3454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Travel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$10M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88%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$10M</a:t>
            </a:r>
            <a:endParaRPr/>
          </a:p>
        </p:txBody>
      </p:sp>
      <p:sp>
        <p:nvSpPr>
          <p:cNvPr id="634" name="Google Shape;634;p28"/>
          <p:cNvSpPr/>
          <p:nvPr/>
        </p:nvSpPr>
        <p:spPr>
          <a:xfrm>
            <a:off x="6051000" y="950000"/>
            <a:ext cx="2590000" cy="35000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6051000" y="950000"/>
            <a:ext cx="36000" cy="3500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6228000" y="1020000"/>
            <a:ext cx="2300000" cy="3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DEAL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Proprietary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$27M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NDR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98%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MARGIN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8CCBA"/>
                </a:solidFill>
                <a:latin typeface="IBM Plex Mono"/>
                <a:ea typeface="IBM Plex Mono"/>
                <a:cs typeface="IBM Plex Mono"/>
                <a:sym typeface="IBM Plex Mono"/>
              </a:rPr>
              <a:t>-5%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$33.75M</a:t>
            </a:r>
            <a:endParaRPr/>
          </a:p>
        </p:txBody>
      </p:sp>
      <p:sp>
        <p:nvSpPr>
          <p:cNvPr id="637" name="Google Shape;637;p28"/>
          <p:cNvSpPr/>
          <p:nvPr/>
        </p:nvSpPr>
        <p:spPr>
          <a:xfrm>
            <a:off x="502920" y="4580000"/>
            <a:ext cx="82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Combined ARR: $57M  |  Combined entry: $68.75M  |  All cash, zero debt</a:t>
            </a:r>
            <a:endParaRPr/>
          </a:p>
        </p:txBody>
      </p:sp>
      <p:sp>
        <p:nvSpPr>
          <p:cNvPr id="638" name="Google Shape;638;p28"/>
          <p:cNvSpPr/>
          <p:nvPr/>
        </p:nvSpPr>
        <p:spPr>
          <a:xfrm>
            <a:off x="0" y="4900000"/>
            <a:ext cx="9144000" cy="180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502920" y="49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CONFIDENTIAL -- DO NOT DISTRIBUTE</a:t>
            </a:r>
            <a:endParaRPr/>
          </a:p>
        </p:txBody>
      </p:sp>
      <p:sp>
        <p:nvSpPr>
          <p:cNvPr id="640" name="Google Shape;640;p28"/>
          <p:cNvSpPr/>
          <p:nvPr/>
        </p:nvSpPr>
        <p:spPr>
          <a:xfrm>
            <a:off x="8400000" y="4940000"/>
            <a:ext cx="4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D8CCBA"/>
                </a:solidFill>
                <a:latin typeface="DM Sans"/>
                <a:ea typeface="DM Sans"/>
                <a:cs typeface="DM Sans"/>
                <a:sym typeface="DM Sans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2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9"/>
          <p:cNvSpPr/>
          <p:nvPr/>
        </p:nvSpPr>
        <p:spPr>
          <a:xfrm>
            <a:off x="50292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 Structure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9"/>
          <p:cNvSpPr/>
          <p:nvPr/>
        </p:nvSpPr>
        <p:spPr>
          <a:xfrm>
            <a:off x="8229600" y="164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9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9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9"/>
          <p:cNvSpPr/>
          <p:nvPr/>
        </p:nvSpPr>
        <p:spPr>
          <a:xfrm>
            <a:off x="502920" y="960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502920" y="960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9"/>
          <p:cNvSpPr/>
          <p:nvPr/>
        </p:nvSpPr>
        <p:spPr>
          <a:xfrm>
            <a:off x="685800" y="1051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WATERFALL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1x then tiered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685800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100% to LPs until 1x. Then 80/20 to 2x, 75/25 to 3x, 70/30 above.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9"/>
          <p:cNvSpPr/>
          <p:nvPr/>
        </p:nvSpPr>
        <p:spPr>
          <a:xfrm>
            <a:off x="4709160" y="960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9"/>
          <p:cNvSpPr/>
          <p:nvPr/>
        </p:nvSpPr>
        <p:spPr>
          <a:xfrm>
            <a:off x="4709160" y="960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4892040" y="1051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PREFERRED RETURN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4892040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Accrues on unreturned capital. LP eats first.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502920" y="2103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502920" y="2103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9"/>
          <p:cNvSpPr/>
          <p:nvPr/>
        </p:nvSpPr>
        <p:spPr>
          <a:xfrm>
            <a:off x="685800" y="2194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FEES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685800" y="2377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2% Y1 only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68580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2% of committed capital until 3 deals close. 0% after.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4709160" y="2103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9"/>
          <p:cNvSpPr/>
          <p:nvPr/>
        </p:nvSpPr>
        <p:spPr>
          <a:xfrm>
            <a:off x="4709160" y="2103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4892040" y="2194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DISTRIBUTIONS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4892040" y="2377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Quarterly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4892040" y="2724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Every 90 days. Cash in your account.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9"/>
          <p:cNvSpPr/>
          <p:nvPr/>
        </p:nvSpPr>
        <p:spPr>
          <a:xfrm>
            <a:off x="502920" y="3246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502920" y="3246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685800" y="3337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LEVERAGE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685800" y="3520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685800" y="3867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No debt. No subscription lines.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4709160" y="3246120"/>
            <a:ext cx="3931920" cy="9601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9"/>
          <p:cNvSpPr/>
          <p:nvPr/>
        </p:nvSpPr>
        <p:spPr>
          <a:xfrm>
            <a:off x="4709160" y="3246120"/>
            <a:ext cx="45720" cy="96012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9"/>
          <p:cNvSpPr/>
          <p:nvPr/>
        </p:nvSpPr>
        <p:spPr>
          <a:xfrm>
            <a:off x="4892040" y="333756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9"/>
          <p:cNvSpPr/>
          <p:nvPr/>
        </p:nvSpPr>
        <p:spPr>
          <a:xfrm>
            <a:off x="4892040" y="3520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800"/>
              <a:buFont typeface="Libre Franklin"/>
              <a:buNone/>
            </a:pPr>
            <a:r>
              <a:rPr b="1" i="0" lang="en-US" sz="18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Delaware LLC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9"/>
          <p:cNvSpPr/>
          <p:nvPr/>
        </p:nvSpPr>
        <p:spPr>
          <a:xfrm>
            <a:off x="4892040" y="3867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$5M minimum. ~30 LPs. 506(b).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D14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502920" y="320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800"/>
              <a:buFont typeface="Libre Franklin"/>
              <a:buNone/>
            </a:pPr>
            <a:r>
              <a:rPr b="1" i="0" lang="en-US" sz="28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Per-Acquisition Integration Ramp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0"/>
          <p:cNvSpPr/>
          <p:nvPr/>
        </p:nvSpPr>
        <p:spPr>
          <a:xfrm>
            <a:off x="8229600" y="22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D14"/>
              </a:buClr>
              <a:buSzPts val="1500"/>
              <a:buFont typeface="Libre Franklin"/>
              <a:buNone/>
            </a:pPr>
            <a:r>
              <a:rPr b="1" i="0" lang="en-US" sz="1500" u="none" cap="none" strike="noStrike">
                <a:solidFill>
                  <a:srgbClr val="0A0D1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0"/>
          <p:cNvSpPr/>
          <p:nvPr/>
        </p:nvSpPr>
        <p:spPr>
          <a:xfrm>
            <a:off x="502920" y="4709160"/>
            <a:ext cx="8138160" cy="16459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0"/>
          <p:cNvSpPr/>
          <p:nvPr/>
        </p:nvSpPr>
        <p:spPr>
          <a:xfrm>
            <a:off x="50292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CONFIDENTIAL -- DO NOT DISTRIBUTE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0"/>
          <p:cNvSpPr/>
          <p:nvPr/>
        </p:nvSpPr>
        <p:spPr>
          <a:xfrm>
            <a:off x="7772400" y="4773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700"/>
              <a:buFont typeface="IBM Plex Mono"/>
              <a:buNone/>
            </a:pPr>
            <a:r>
              <a:rPr b="0" i="0" lang="en-US" sz="700" u="none" cap="none" strike="noStrike">
                <a:solidFill>
                  <a:srgbClr val="6B6560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5029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5029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6400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6400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-40%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/>
          <p:nvPr/>
        </p:nvSpPr>
        <p:spPr>
          <a:xfrm>
            <a:off x="6400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Inherited cost bloat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0"/>
          <p:cNvSpPr/>
          <p:nvPr/>
        </p:nvSpPr>
        <p:spPr>
          <a:xfrm>
            <a:off x="32461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0"/>
          <p:cNvSpPr/>
          <p:nvPr/>
        </p:nvSpPr>
        <p:spPr>
          <a:xfrm>
            <a:off x="32461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0"/>
          <p:cNvSpPr/>
          <p:nvPr/>
        </p:nvSpPr>
        <p:spPr>
          <a:xfrm>
            <a:off x="33832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33832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Breakeven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33832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AI infrastructure deployed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5989320" y="914400"/>
            <a:ext cx="2560320" cy="91440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5989320" y="914400"/>
            <a:ext cx="45720" cy="91440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6126480" y="98755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MONTH 12+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6126480" y="117043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60%+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6126480" y="148132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Steady state target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0"/>
          <p:cNvSpPr/>
          <p:nvPr/>
        </p:nvSpPr>
        <p:spPr>
          <a:xfrm>
            <a:off x="502920" y="2057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1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LPs receive 100% of operating margin. No bonus pool - all upside flows to investors.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502920" y="25146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1200"/>
              <a:buFont typeface="Libre Franklin"/>
              <a:buNone/>
            </a:pPr>
            <a:r>
              <a:rPr b="1" i="0" lang="en-US" sz="1200" u="none" cap="none" strike="noStrike">
                <a:solidFill>
                  <a:srgbClr val="BE8A4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20 PEOPLE IS ENOUGH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0"/>
          <p:cNvSpPr/>
          <p:nvPr/>
        </p:nvSpPr>
        <p:spPr>
          <a:xfrm>
            <a:off x="502920" y="2834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1100"/>
              <a:buFont typeface="DM Sans"/>
              <a:buNone/>
            </a:pPr>
            <a:r>
              <a:rPr b="0" i="0" lang="en-US" sz="1100" u="none" cap="none" strike="noStrike">
                <a:solidFill>
                  <a:srgbClr val="F8F6F2"/>
                </a:solidFill>
                <a:latin typeface="DM Sans"/>
                <a:ea typeface="DM Sans"/>
                <a:cs typeface="DM Sans"/>
                <a:sym typeface="DM Sans"/>
              </a:rPr>
              <a:t>Product manager IS the account manager. Zero handoffs. Full context. AI handles the execution layer. 20 people do what 200 used 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502920" y="3383280"/>
            <a:ext cx="3840480" cy="77724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0"/>
          <p:cNvSpPr/>
          <p:nvPr/>
        </p:nvSpPr>
        <p:spPr>
          <a:xfrm>
            <a:off x="502920" y="3383280"/>
            <a:ext cx="45720" cy="7772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0"/>
          <p:cNvSpPr/>
          <p:nvPr/>
        </p:nvSpPr>
        <p:spPr>
          <a:xfrm>
            <a:off x="640080" y="3456432"/>
            <a:ext cx="3611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PER EMPLOYEE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640080" y="362102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$5M+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640080" y="3913632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Fund I at steady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4572000" y="3383280"/>
            <a:ext cx="4069080" cy="777240"/>
          </a:xfrm>
          <a:prstGeom prst="rect">
            <a:avLst/>
          </a:prstGeom>
          <a:solidFill>
            <a:srgbClr val="13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4572000" y="3383280"/>
            <a:ext cx="45720" cy="777240"/>
          </a:xfrm>
          <a:prstGeom prst="rect">
            <a:avLst/>
          </a:prstGeom>
          <a:solidFill>
            <a:srgbClr val="BE8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0"/>
          <p:cNvSpPr/>
          <p:nvPr/>
        </p:nvSpPr>
        <p:spPr>
          <a:xfrm>
            <a:off x="4709160" y="345643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A42"/>
              </a:buClr>
              <a:buSzPts val="800"/>
              <a:buFont typeface="IBM Plex Mono"/>
              <a:buNone/>
            </a:pPr>
            <a:r>
              <a:rPr b="1" i="0" lang="en-US" sz="800" u="none" cap="none" strike="noStrike">
                <a:solidFill>
                  <a:srgbClr val="BE8A42"/>
                </a:solidFill>
                <a:latin typeface="IBM Plex Mono"/>
                <a:ea typeface="IBM Plex Mono"/>
                <a:cs typeface="IBM Plex Mono"/>
                <a:sym typeface="IBM Plex Mono"/>
              </a:rPr>
              <a:t>AT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4709160" y="362102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6F2"/>
              </a:buClr>
              <a:buSzPts val="2000"/>
              <a:buFont typeface="Libre Franklin"/>
              <a:buNone/>
            </a:pPr>
            <a:r>
              <a:rPr b="1" i="0" lang="en-US" sz="2000" u="none" cap="none" strike="noStrike">
                <a:solidFill>
                  <a:srgbClr val="F8F6F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$20M+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4709160" y="391363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570"/>
              </a:buClr>
              <a:buSzPts val="1000"/>
              <a:buFont typeface="DM Sans"/>
              <a:buNone/>
            </a:pPr>
            <a:r>
              <a:rPr b="0" i="0" lang="en-US" sz="1000" u="none" cap="none" strike="noStrike">
                <a:solidFill>
                  <a:srgbClr val="7A7570"/>
                </a:solidFill>
                <a:latin typeface="DM Sans"/>
                <a:ea typeface="DM Sans"/>
                <a:cs typeface="DM Sans"/>
                <a:sym typeface="DM Sans"/>
              </a:rPr>
              <a:t>$1B+ revenue, ~50 people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