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89B3C"/>
                </a:solidFill>
                <a:latin typeface="Calibri"/>
              </a:rPr>
              <a:t>PRESS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Fund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C9D3E6"/>
                </a:solidFill>
                <a:latin typeface="Calibri"/>
              </a:rPr>
              <a:t>The Durable Cash SaaS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9B6CE"/>
                </a:solidFill>
                <a:latin typeface="Calibri"/>
              </a:rPr>
              <a:t>Buy stalled software at cash-flow prices. Cut the waste. Hold for durable cash.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$150M target  |  Zero leverage  |  50% recycle  |  Confidential Teaser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Press. Why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The golden age of software is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222A35"/>
                </a:solidFill>
                <a:latin typeface="Calibri"/>
              </a:rPr>
              <a:t>SaaS valuations fell ~75% from peak. Thousands of good businesses can't grow their way out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222A35"/>
                </a:solidFill>
                <a:latin typeface="Calibri"/>
              </a:rPr>
              <a:t>and were never built to run lean. That's the buying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21x -&gt; 5x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ARR multiples, peak to trough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a16z / Meritech / Bessemer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7432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~11,000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B2B SaaS at $10M+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the target universe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7432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leverage in Fund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all 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Press buys from the middle of the a16z barbell - companies that can't hit 25%+ growth and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haven't been rebuilt to 40%+ margins. We install operating discipline, price correctly, and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harvest durable cash.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A durable cash fund. Buy, fix, 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55448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417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417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Acquire stalled B2B SaaS at ~1.2-1.25x ARR - cash-flow prices, not growth prices.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1554480" cy="9601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560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Turn OFF the growth-at-any-cost engine. Keep only efficient channels. Run lean with an AI-enabled team.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1554480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703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3703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Drive net revenue via price increases + efficient upsell/cross-sell - not new-logo spend.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4846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4846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Compound durable cash. Recycle 50% into more companies. Distribute the rest.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Revenue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Growth is the #1 cost driver - and where these companies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Stalled SaaS spends 30-40% of revenue chasing 10-15% growth. The math doesn't work. We turn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it off. Net dollar retention comes from keeping customers and pricing correctly: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834640"/>
            <a:ext cx="9601200" cy="1371600"/>
          </a:xfrm>
          <a:prstGeom prst="rect">
            <a:avLst/>
          </a:prstGeom>
          <a:solidFill>
            <a:srgbClr val="EFF3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971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E7D5B"/>
                </a:solidFill>
                <a:latin typeface="Calibri"/>
              </a:rPr>
              <a:t>90% gross retention  +  10% price increase  =  ~100% net dollar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118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222A35"/>
                </a:solidFill>
                <a:latin typeface="Calibri"/>
              </a:rPr>
              <a:t>No new-logo spend required. This is the revenue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We underwrite price-led NDR (Bear 80% / Base 90% / Bull 100%) for a 6-year value-creation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window, then revert to 85% gross-retention decay. High-single-digit growth at most - and we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don't need more to deliver the returns on the next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Not a First-Timer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Proven operators with a realized track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IRR, most recent deal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68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realized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3716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3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operated at 75%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468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hands-on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3 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completed track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468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buy-fix-hold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The operating playbook (from prior companies):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237744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703320"/>
            <a:ext cx="36576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70332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703320"/>
            <a:ext cx="50292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70332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After Press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062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A35"/>
                </a:solidFill>
                <a:latin typeface="Calibri"/>
              </a:rP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20624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420624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12 people, $1.2M/yr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20624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2062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AI handles 80% of tickets, 2 humans, $200K/yr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09160"/>
            <a:ext cx="23774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091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A35"/>
                </a:solidFill>
                <a:latin typeface="Calibri"/>
              </a:rPr>
              <a:t>Go-to-market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4709160"/>
            <a:ext cx="36576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470916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Agency + 3 FTEs, $800K/yr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709160"/>
            <a:ext cx="50292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70916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PM owns the customer. Zero handoffs.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21208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1208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A35"/>
                </a:solidFill>
                <a:latin typeface="Calibri"/>
              </a:rPr>
              <a:t>Net margin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5212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521208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~15-30% typical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521208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521208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60%+ durable operating margin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Fund I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$150M target, aligned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$150M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Fund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2% / $3M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GP commitment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3716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2% Yr1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Mgmt fee, then 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6324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2783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Zero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90448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Leverage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306324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06324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22783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90448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Recycle (2-yr window)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306324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306324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322783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~8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90448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Companies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Waterfall: 1x return of capital + 10% preferred, then 80/20 to 2x, 75/25 to 3x, 70/30 above.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bonus pool - all operating margin flows to investors. Distributions quarterly.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Projected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50% recycle model  |  three cases on net dollar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1089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417320"/>
            <a:ext cx="26517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4173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Bear (80% NDR)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26517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Base (90% NDR)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417320"/>
            <a:ext cx="26517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4173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Bull (100% NDR)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65960"/>
            <a:ext cx="3108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6596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DPI - 10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9659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2.19x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659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3.50x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9659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5.43x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14600"/>
            <a:ext cx="31089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1460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IRR - 10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51460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25146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17%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51460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5146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51460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5146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063240"/>
            <a:ext cx="3108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06324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DPI - 15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0632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0632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2.44x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0632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632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4.53x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0632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30632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7.55x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11880"/>
            <a:ext cx="31089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61188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IRR - 15 Year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61188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36118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17%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61188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6118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61188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6118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160520"/>
            <a:ext cx="3108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6052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LP Cash (15Y)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1605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0" y="41605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$366M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1605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1605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$679M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41605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41605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$1132M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166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libri"/>
              </a:rPr>
              <a:t>50% recycle, $150M, unlevered. Base 90% NDR (price-led, Yr1-6) reverting to 85% decay.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libri"/>
              </a:rPr>
              <a:t>Net of all fees and carry.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Fee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We make our money when you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9319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36576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Press Fund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17320"/>
            <a:ext cx="34747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Traditional 2/20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3931920" cy="502920"/>
          </a:xfrm>
          <a:prstGeom prst="rect">
            <a:avLst/>
          </a:prstGeom>
          <a:solidFill>
            <a:srgbClr val="E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Management fee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920240"/>
            <a:ext cx="3657600" cy="502920"/>
          </a:xfrm>
          <a:prstGeom prst="rect">
            <a:avLst/>
          </a:prstGeom>
          <a:solidFill>
            <a:srgbClr val="E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2% Year 1 only ($3M)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474720" cy="502920"/>
          </a:xfrm>
          <a:prstGeom prst="rect">
            <a:avLst/>
          </a:prstGeom>
          <a:solidFill>
            <a:srgbClr val="E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2% for 10 years ($30M)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23160"/>
            <a:ext cx="39319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2316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Fee after Year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423160"/>
            <a:ext cx="36576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42316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423160"/>
            <a:ext cx="34747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42316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2% every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Bonus pool / hidden take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926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92608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92608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29000"/>
            <a:ext cx="39319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42900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GP commitment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429000"/>
            <a:ext cx="36576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42900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2% ($3M)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429000"/>
            <a:ext cx="34747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42900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1% typical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319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3192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Carry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39319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93192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20% over 1x + 10% pref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93192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39319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20% over 8% pref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$27M of fees LPs don't pay vs a traditional fund - returned as distributions, not extracted.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GP economics grow only when LP cash grows.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50% Recycling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The model: more capital at work, LPs still get 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We retain 50% of operating cash during the first ~2 years post-deployment and redeploy it into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additional companies - funded entirely from cash flow, with no incremental capital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~8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companies (5 + 3 recycled)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7432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distributed currently to 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liquidity + growth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7432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incremental capital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self-funded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Why 50%: LPs keep receiving current distributions while the fund compounds. Positive-sum -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recycling grows the pie, so LP cash and GP carry rise together. Stress-tested to stay fully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funded even in the Bear (80% NDR)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89B3C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A durable, unlevered cash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9D3E6"/>
                </a:solidFill>
                <a:latin typeface="Calibri"/>
              </a:rPr>
              <a:t>Base case: 3.5x / 26% net IRR at 10 years. Bear still ~2.2x / 17%.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9D3E6"/>
                </a:solidFill>
                <a:latin typeface="Calibri"/>
              </a:rPr>
              <a:t>Proven operators, aligned fees, zero leverage, real downside protection.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$5M minimum  |  ~30 LPs  |  506(b)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B0"/>
                </a:solidFill>
                <a:latin typeface="Calibri"/>
              </a:rPr>
              <a:t>Confidential.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